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7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8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0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11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2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3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14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5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9" r:id="rId3"/>
    <p:sldMasterId id="2147483691" r:id="rId4"/>
    <p:sldMasterId id="2147483696" r:id="rId5"/>
    <p:sldMasterId id="2147483712" r:id="rId6"/>
    <p:sldMasterId id="2147483719" r:id="rId7"/>
    <p:sldMasterId id="2147483731" r:id="rId8"/>
    <p:sldMasterId id="2147483743" r:id="rId9"/>
    <p:sldMasterId id="2147483748" r:id="rId10"/>
    <p:sldMasterId id="2147483764" r:id="rId11"/>
    <p:sldMasterId id="2147483772" r:id="rId12"/>
    <p:sldMasterId id="2147483779" r:id="rId13"/>
    <p:sldMasterId id="2147483791" r:id="rId14"/>
    <p:sldMasterId id="2147483803" r:id="rId15"/>
    <p:sldMasterId id="2147483808" r:id="rId16"/>
  </p:sldMasterIdLst>
  <p:notesMasterIdLst>
    <p:notesMasterId r:id="rId30"/>
  </p:notesMasterIdLst>
  <p:sldIdLst>
    <p:sldId id="256" r:id="rId17"/>
    <p:sldId id="258" r:id="rId18"/>
    <p:sldId id="259" r:id="rId19"/>
    <p:sldId id="260" r:id="rId20"/>
    <p:sldId id="262" r:id="rId21"/>
    <p:sldId id="263" r:id="rId22"/>
    <p:sldId id="273" r:id="rId23"/>
    <p:sldId id="267" r:id="rId24"/>
    <p:sldId id="270" r:id="rId25"/>
    <p:sldId id="271" r:id="rId26"/>
    <p:sldId id="272" r:id="rId27"/>
    <p:sldId id="274" r:id="rId28"/>
    <p:sldId id="275" r:id="rId29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56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28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00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7213" indent="158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0504D"/>
    <a:srgbClr val="77933C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76" autoAdjust="0"/>
    <p:restoredTop sz="92833" autoAdjust="0"/>
  </p:normalViewPr>
  <p:slideViewPr>
    <p:cSldViewPr snapToGrid="0">
      <p:cViewPr varScale="1">
        <p:scale>
          <a:sx n="89" d="100"/>
          <a:sy n="89" d="100"/>
        </p:scale>
        <p:origin x="33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16078-B02B-4B1D-B0C5-7F2C211B2286}" type="datetimeFigureOut">
              <a:rPr lang="zh-TW" altLang="en-US" smtClean="0"/>
              <a:t>2026/5/31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BE793-CADF-4CEE-8B3A-B35D4FCD47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29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6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4594240"/>
            <a:ext cx="2838450" cy="1989919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173249" y="478789"/>
            <a:ext cx="2370550" cy="253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4600" y="762000"/>
            <a:ext cx="4953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Arial" pitchFamily="34" charset="0"/>
                <a:ea typeface="新細明體" pitchFamily="18" charset="-120"/>
              </a:defRPr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39" y="-69447"/>
            <a:ext cx="1642017" cy="1326749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6CA73AF6-D7C5-4244-A766-4459CEDEDE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3559" y="335282"/>
            <a:ext cx="1759641" cy="684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N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Y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U</a:t>
            </a:r>
            <a:endParaRPr kumimoji="0" lang="en-US" altLang="zh-TW" sz="2000" i="1" dirty="0">
              <a:solidFill>
                <a:srgbClr val="061244"/>
              </a:solidFill>
              <a:latin typeface="Arial Black" pitchFamily="34" charset="0"/>
            </a:endParaRPr>
          </a:p>
          <a:p>
            <a:pPr eaLnBrk="0" hangingPunct="0"/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3BA049-72F1-42E1-9FCF-145282D6D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413873" y="128295"/>
            <a:ext cx="892829" cy="1095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1986B8-BBC7-4C83-BCEC-79640F50F0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85470" y="-34400"/>
            <a:ext cx="1457070" cy="1280271"/>
          </a:xfrm>
          <a:prstGeom prst="rect">
            <a:avLst/>
          </a:prstGeom>
        </p:spPr>
      </p:pic>
      <p:sp>
        <p:nvSpPr>
          <p:cNvPr id="17" name="Rectangle 8">
            <a:extLst>
              <a:ext uri="{FF2B5EF4-FFF2-40B4-BE49-F238E27FC236}">
                <a16:creationId xmlns:a16="http://schemas.microsoft.com/office/drawing/2014/main" id="{EB6D88EB-0892-4799-9427-51B8B120B4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911631" y="1224255"/>
            <a:ext cx="1759641" cy="377006"/>
          </a:xfrm>
          <a:prstGeom prst="rect">
            <a:avLst/>
          </a:prstGeom>
          <a:noFill/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eaLnBrk="0" hangingPunct="0"/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1235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</p:spPr>
        <p:txBody>
          <a:bodyPr/>
          <a:lstStyle>
            <a:lvl1pPr>
              <a:defRPr sz="1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3241389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</p:spPr>
        <p:txBody>
          <a:bodyPr/>
          <a:lstStyle>
            <a:lvl1pPr>
              <a:defRPr sz="1800"/>
            </a:lvl1pPr>
            <a:lvl2pPr marL="406004" indent="-213122">
              <a:defRPr sz="1500"/>
            </a:lvl2pPr>
            <a:lvl3pPr marL="538163" indent="-170260">
              <a:defRPr sz="1350"/>
            </a:lvl3pPr>
            <a:lvl4pPr marL="675085" indent="-170260"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</p:spPr>
        <p:txBody>
          <a:bodyPr/>
          <a:lstStyle>
            <a:lvl1pPr>
              <a:defRPr sz="1800"/>
            </a:lvl1pPr>
            <a:lvl2pPr marL="406004" indent="-213122">
              <a:defRPr sz="1500"/>
            </a:lvl2pPr>
            <a:lvl3pPr marL="538163" indent="-170260">
              <a:defRPr sz="1350"/>
            </a:lvl3pPr>
            <a:lvl4pPr marL="675085" indent="-170260"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67682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21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788" indent="0">
              <a:buNone/>
              <a:defRPr sz="1350"/>
            </a:lvl2pPr>
            <a:lvl3pPr marL="685576" indent="0">
              <a:buNone/>
              <a:defRPr sz="1200"/>
            </a:lvl3pPr>
            <a:lvl4pPr marL="1028363" indent="0">
              <a:buNone/>
              <a:defRPr sz="1050"/>
            </a:lvl4pPr>
            <a:lvl5pPr marL="1371152" indent="0">
              <a:buNone/>
              <a:defRPr sz="1050"/>
            </a:lvl5pPr>
            <a:lvl6pPr marL="1713938" indent="0">
              <a:buNone/>
              <a:defRPr sz="1050"/>
            </a:lvl6pPr>
            <a:lvl7pPr marL="2056727" indent="0">
              <a:buNone/>
              <a:defRPr sz="1050"/>
            </a:lvl7pPr>
            <a:lvl8pPr marL="2399515" indent="0">
              <a:buNone/>
              <a:defRPr sz="1050"/>
            </a:lvl8pPr>
            <a:lvl9pPr marL="2742302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2571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91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85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6907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564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5421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609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70439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0008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7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9409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1695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12887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68535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103447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48368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2801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45039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66802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94123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6689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88065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4117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2015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5615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1" y="2362202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18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9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9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052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4737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91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7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6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6" y="3700465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25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562601" y="6172200"/>
            <a:ext cx="215539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US" altLang="zh-TW" sz="18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8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8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8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8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8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7832109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350"/>
            </a:lvl3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76795948-1A2E-41C5-BC46-5D8425F8FCA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6449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1BF5189-DF0A-4EB0-A9F9-43DFA84743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58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A56C42-000D-45F8-B9E4-77389DE4DDE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2780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B8B399AD-98B4-462A-9886-16391F2005B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782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D34FB4-20D5-4A67-8A07-F3864216CBE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305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BCDD71E-73F6-4F5F-A8F8-5F895F3020C3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628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5BC2A1F9-63F6-4295-9E2B-5137DD492A4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3627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A473EE4-3B64-4F55-A703-274A6355879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9955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44AF99-D8E0-4596-913D-85151C393D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4661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334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4F669347-A480-4D87-94F5-57A52566A95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740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80336A-D57A-4C7A-8314-6927C550AAD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4614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0FAD609D-FBA0-4833-B637-A6123ED7C15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9205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ED21F134-1F18-4CEC-A26B-2170513B8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6201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2BF0C42-9EF9-416B-A749-E7976082AD6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768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75A0546-1417-411B-9C03-BD75F531D4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40E62ED-D3F5-4980-85A8-BA4AE438BD1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4213" y="3429000"/>
            <a:ext cx="7739062" cy="1524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ECA6736-D0B3-4030-B950-D219EF3FFD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417C0E2-C180-4B8A-88E9-2734FDEBE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29C38ECC-5412-456D-BAA3-D94B7D3912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Arial" pitchFamily="34" charset="0"/>
                <a:ea typeface="新細明體" pitchFamily="18" charset="-120"/>
              </a:defRPr>
            </a:lvl1pPr>
          </a:lstStyle>
          <a:p>
            <a:fld id="{8F1810F8-6060-463F-85AB-707945778F3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19887032-5FD4-2FA3-CD84-DBA1D39701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22361" y="410357"/>
            <a:ext cx="7086600" cy="253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5F6B3963-BF49-A1E5-AE65-2E8696D480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14" t="19398" r="18764" b="19265"/>
          <a:stretch/>
        </p:blipFill>
        <p:spPr>
          <a:xfrm>
            <a:off x="176306" y="28990"/>
            <a:ext cx="1419836" cy="140415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7BD56FF8-18A0-C796-736E-815FAAC7E5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8311" y="6245567"/>
            <a:ext cx="2715001" cy="377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68558" tIns="34280" rIns="68558" bIns="3428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N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Y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C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U </a:t>
            </a:r>
            <a:r>
              <a:rPr kumimoji="0" lang="en-US" altLang="zh-TW" sz="20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20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20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B5B1D37-9DAB-997F-D375-71C2499121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06" y="5825608"/>
            <a:ext cx="897119" cy="88964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BF76E9E-F8CF-5A6A-E937-59D44E8BED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05000" y="722312"/>
            <a:ext cx="6477000" cy="1158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363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998575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5" name="內容版面配置區 2"/>
          <p:cNvSpPr>
            <a:spLocks noGrp="1"/>
          </p:cNvSpPr>
          <p:nvPr>
            <p:ph sz="half" idx="10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41338" indent="-284163">
              <a:defRPr sz="2000"/>
            </a:lvl2pPr>
            <a:lvl3pPr marL="717550" indent="-227013">
              <a:defRPr sz="1800"/>
            </a:lvl3pPr>
            <a:lvl4pPr marL="900113" indent="-227013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4033915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050" indent="0">
              <a:buNone/>
              <a:defRPr sz="1800"/>
            </a:lvl2pPr>
            <a:lvl3pPr marL="914101" indent="0">
              <a:buNone/>
              <a:defRPr sz="1600"/>
            </a:lvl3pPr>
            <a:lvl4pPr marL="1371151" indent="0">
              <a:buNone/>
              <a:defRPr sz="1400"/>
            </a:lvl4pPr>
            <a:lvl5pPr marL="1828202" indent="0">
              <a:buNone/>
              <a:defRPr sz="1400"/>
            </a:lvl5pPr>
            <a:lvl6pPr marL="2285251" indent="0">
              <a:buNone/>
              <a:defRPr sz="1400"/>
            </a:lvl6pPr>
            <a:lvl7pPr marL="2742302" indent="0">
              <a:buNone/>
              <a:defRPr sz="1400"/>
            </a:lvl7pPr>
            <a:lvl8pPr marL="3199353" indent="0">
              <a:buNone/>
              <a:defRPr sz="1400"/>
            </a:lvl8pPr>
            <a:lvl9pPr marL="3656403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19787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6371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6082940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934615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435496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423885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520008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786075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1132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900989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751389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301544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434561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8933812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67467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737329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39243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86300" y="1676400"/>
            <a:ext cx="3925888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268807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277316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1277194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09720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136325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2491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908558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762000"/>
            <a:ext cx="2095500" cy="5715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762000"/>
            <a:ext cx="6134100" cy="5715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420716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57200" y="2362200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8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017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082090" y="632637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B0E40-838E-44C8-8537-DA4C635197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1527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355F5-F799-4671-9CB8-7FC2BDF19CF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70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070850" cy="68421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981075"/>
            <a:ext cx="3990975" cy="52879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83125" y="981075"/>
            <a:ext cx="3992563" cy="25669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83125" y="3700463"/>
            <a:ext cx="3992563" cy="2568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0B935-75A3-4F97-B8FE-48499DD033B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8110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tulogo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048000" y="6858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34290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114800" y="6324600"/>
            <a:ext cx="4495800" cy="152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3372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562600" y="6172200"/>
            <a:ext cx="27908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0" lang="en-US" altLang="zh-TW" sz="24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4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4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4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4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4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4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4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400" i="1">
                <a:solidFill>
                  <a:srgbClr val="CDD6FB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57200" y="381000"/>
            <a:ext cx="7086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  <a:defRPr/>
            </a:pP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019531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76795948-1A2E-41C5-BC46-5D8425F8FCA0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6669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1BF5189-DF0A-4EB0-A9F9-43DFA847437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522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A56C42-000D-45F8-B9E4-77389DE4DDE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84874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B8B399AD-98B4-462A-9886-16391F2005B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44702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D34FB4-20D5-4A67-8A07-F3864216CBE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57750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BCDD71E-73F6-4F5F-A8F8-5F895F3020C3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284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5BC2A1F9-63F6-4295-9E2B-5137DD492A45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64722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6A473EE4-3B64-4F55-A703-274A6355879D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78458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B44AF99-D8E0-4596-913D-85151C393DE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83752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914400"/>
            <a:ext cx="19431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914400"/>
            <a:ext cx="5676900" cy="53340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4F669347-A480-4D87-94F5-57A52566A95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61281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2080336A-D57A-4C7A-8314-6927C550AAD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48326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0FAD609D-FBA0-4833-B637-A6123ED7C15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6849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ED21F134-1F18-4CEC-A26B-2170513B8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4788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810000" cy="4419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828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2133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12BF0C42-9EF9-416B-A749-E7976082AD6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47480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4114800" y="6324600"/>
            <a:ext cx="4495800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684213" y="3429000"/>
            <a:ext cx="7739062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8"/>
          <p:cNvSpPr txBox="1"/>
          <p:nvPr/>
        </p:nvSpPr>
        <p:spPr>
          <a:xfrm>
            <a:off x="1822361" y="410357"/>
            <a:ext cx="7086600" cy="25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pic>
        <p:nvPicPr>
          <p:cNvPr id="20" name="Google Shape;20;p18" descr="A blue and black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19214" t="19398" r="18764" b="19264"/>
          <a:stretch/>
        </p:blipFill>
        <p:spPr>
          <a:xfrm>
            <a:off x="176306" y="28990"/>
            <a:ext cx="1419836" cy="14041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8"/>
          <p:cNvSpPr/>
          <p:nvPr/>
        </p:nvSpPr>
        <p:spPr>
          <a:xfrm>
            <a:off x="1098311" y="6245567"/>
            <a:ext cx="2715001" cy="3770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244"/>
              </a:buClr>
              <a:buSzPts val="2000"/>
              <a:buFont typeface="Arial Black"/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Y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U </a:t>
            </a: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0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20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20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pic>
        <p:nvPicPr>
          <p:cNvPr id="22" name="Google Shape;22;p1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306" y="5825608"/>
            <a:ext cx="897119" cy="8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/>
          <p:nvPr/>
        </p:nvSpPr>
        <p:spPr>
          <a:xfrm>
            <a:off x="1905000" y="722312"/>
            <a:ext cx="6477000" cy="115888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32365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9175907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>
  <p:cSld name="兩項物件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⮚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9635054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區段標題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>
            <a:spLocks noGrp="1"/>
          </p:cNvSpPr>
          <p:nvPr>
            <p:ph type="title"/>
          </p:nvPr>
        </p:nvSpPr>
        <p:spPr>
          <a:xfrm>
            <a:off x="722315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722315" y="2906719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9029018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空白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63345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文字在物件之上" type="txOverObj">
  <p:cSld name="標題及文字在物件之上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SzPts val="20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330605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350" y="4594240"/>
            <a:ext cx="2838450" cy="19899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5"/>
          <p:cNvSpPr/>
          <p:nvPr/>
        </p:nvSpPr>
        <p:spPr>
          <a:xfrm>
            <a:off x="4114800" y="6324600"/>
            <a:ext cx="4495800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5"/>
          <p:cNvSpPr txBox="1"/>
          <p:nvPr/>
        </p:nvSpPr>
        <p:spPr>
          <a:xfrm>
            <a:off x="5173249" y="478789"/>
            <a:ext cx="2370550" cy="25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sp>
        <p:nvSpPr>
          <p:cNvPr id="52" name="Google Shape;52;p25"/>
          <p:cNvSpPr/>
          <p:nvPr/>
        </p:nvSpPr>
        <p:spPr>
          <a:xfrm>
            <a:off x="2514600" y="762000"/>
            <a:ext cx="4953000" cy="115888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5"/>
          <p:cNvSpPr/>
          <p:nvPr/>
        </p:nvSpPr>
        <p:spPr>
          <a:xfrm>
            <a:off x="684213" y="3429000"/>
            <a:ext cx="7739062" cy="1524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>
            <a:spLocks noGrp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subTitle" idx="1"/>
          </p:nvPr>
        </p:nvSpPr>
        <p:spPr>
          <a:xfrm>
            <a:off x="1371600" y="4068765"/>
            <a:ext cx="6400800" cy="141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0639" y="-69447"/>
            <a:ext cx="1642017" cy="13267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5"/>
          <p:cNvSpPr/>
          <p:nvPr/>
        </p:nvSpPr>
        <p:spPr>
          <a:xfrm>
            <a:off x="983559" y="335282"/>
            <a:ext cx="1759641" cy="6847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244"/>
              </a:buClr>
              <a:buSzPts val="2000"/>
              <a:buFont typeface="Arial Black"/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Y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U</a:t>
            </a:r>
            <a:endParaRPr sz="2000" i="1">
              <a:solidFill>
                <a:srgbClr val="06124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0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20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20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pic>
        <p:nvPicPr>
          <p:cNvPr id="59" name="Google Shape;5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413873" y="128295"/>
            <a:ext cx="892829" cy="109596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29803"/>
              </a:srgbClr>
            </a:outerShdw>
          </a:effectLst>
        </p:spPr>
      </p:pic>
      <p:pic>
        <p:nvPicPr>
          <p:cNvPr id="60" name="Google Shape;6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5470" y="-34400"/>
            <a:ext cx="1457070" cy="128027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5"/>
          <p:cNvSpPr/>
          <p:nvPr/>
        </p:nvSpPr>
        <p:spPr>
          <a:xfrm>
            <a:off x="-1911631" y="1224255"/>
            <a:ext cx="1759641" cy="37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20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0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20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20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20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20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548925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SzPts val="1350"/>
              <a:buChar char="❖"/>
              <a:defRPr sz="135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5169951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preserve="1">
  <p:cSld name="兩項物件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body" idx="1"/>
          </p:nvPr>
        </p:nvSpPr>
        <p:spPr>
          <a:xfrm>
            <a:off x="381000" y="1676404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8" name="Google Shape;68;p27"/>
          <p:cNvSpPr txBox="1">
            <a:spLocks noGrp="1"/>
          </p:cNvSpPr>
          <p:nvPr>
            <p:ph type="body" idx="2"/>
          </p:nvPr>
        </p:nvSpPr>
        <p:spPr>
          <a:xfrm>
            <a:off x="4610100" y="1676400"/>
            <a:ext cx="41529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⮚"/>
              <a:defRPr sz="12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9734259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 preserve="1">
  <p:cSld name="區段標題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722315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body" idx="1"/>
          </p:nvPr>
        </p:nvSpPr>
        <p:spPr>
          <a:xfrm>
            <a:off x="722315" y="2906721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697725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38144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文字在物件之上" type="txOverObj" preserve="1">
  <p:cSld name="標題及文字在物件之上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654565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 preserve="1">
  <p:cSld name="標題投影片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614136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729064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 preserve="1">
  <p:cSld name="章節標題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330191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39243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9" name="Google Shape;99;p35"/>
          <p:cNvSpPr txBox="1">
            <a:spLocks noGrp="1"/>
          </p:cNvSpPr>
          <p:nvPr>
            <p:ph type="body" idx="2"/>
          </p:nvPr>
        </p:nvSpPr>
        <p:spPr>
          <a:xfrm>
            <a:off x="4686300" y="1676400"/>
            <a:ext cx="39258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1946073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3" name="Google Shape;103;p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4" name="Google Shape;104;p36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5" name="Google Shape;105;p36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6804593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17307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61571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1" name="Google Shape;111;p39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2" name="Google Shape;112;p39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0265856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 preserve="1">
  <p:cSld name="含標題的圖片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5" name="Google Shape;115;p4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6486126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1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body" idx="1"/>
          </p:nvPr>
        </p:nvSpPr>
        <p:spPr>
          <a:xfrm rot="5400000">
            <a:off x="2210594" y="75406"/>
            <a:ext cx="4800600" cy="800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909366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 preserve="1">
  <p:cSld name="直排標題及文字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2"/>
          <p:cNvSpPr txBox="1">
            <a:spLocks noGrp="1"/>
          </p:cNvSpPr>
          <p:nvPr>
            <p:ph type="title"/>
          </p:nvPr>
        </p:nvSpPr>
        <p:spPr>
          <a:xfrm rot="5400000">
            <a:off x="4857750" y="2571750"/>
            <a:ext cx="57150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2" name="Google Shape;122;p42"/>
          <p:cNvSpPr txBox="1">
            <a:spLocks noGrp="1"/>
          </p:cNvSpPr>
          <p:nvPr>
            <p:ph type="body" idx="1"/>
          </p:nvPr>
        </p:nvSpPr>
        <p:spPr>
          <a:xfrm rot="5400000">
            <a:off x="590550" y="552450"/>
            <a:ext cx="5715000" cy="6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420833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 preserve="1">
  <p:cSld name="標題投影片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4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4" name="Google Shape;134;p4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7615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5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7" name="Google Shape;137;p45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91229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 preserve="1">
  <p:cSld name="區段標題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6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0" name="Google Shape;140;p4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91110946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3" name="Google Shape;143;p47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39243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4" name="Google Shape;144;p47"/>
          <p:cNvSpPr txBox="1">
            <a:spLocks noGrp="1"/>
          </p:cNvSpPr>
          <p:nvPr>
            <p:ph type="body" idx="2"/>
          </p:nvPr>
        </p:nvSpPr>
        <p:spPr>
          <a:xfrm>
            <a:off x="4686300" y="1676400"/>
            <a:ext cx="39258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5807060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7" name="Google Shape;147;p4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8" name="Google Shape;148;p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9" name="Google Shape;149;p48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0" name="Google Shape;150;p48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9709174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911589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25176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1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56" name="Google Shape;156;p51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7" name="Google Shape;157;p51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8654677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 preserve="1">
  <p:cSld name="含標題的圖片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0" name="Google Shape;160;p5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5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2687216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4" name="Google Shape;164;p53"/>
          <p:cNvSpPr txBox="1">
            <a:spLocks noGrp="1"/>
          </p:cNvSpPr>
          <p:nvPr>
            <p:ph type="body" idx="1"/>
          </p:nvPr>
        </p:nvSpPr>
        <p:spPr>
          <a:xfrm rot="5400000">
            <a:off x="2210594" y="75406"/>
            <a:ext cx="4800600" cy="800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9968564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 preserve="1">
  <p:cSld name="直排標題及文字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4"/>
          <p:cNvSpPr txBox="1">
            <a:spLocks noGrp="1"/>
          </p:cNvSpPr>
          <p:nvPr>
            <p:ph type="title"/>
          </p:nvPr>
        </p:nvSpPr>
        <p:spPr>
          <a:xfrm rot="5400000">
            <a:off x="4857750" y="2571750"/>
            <a:ext cx="57150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7" name="Google Shape;167;p54"/>
          <p:cNvSpPr txBox="1">
            <a:spLocks noGrp="1"/>
          </p:cNvSpPr>
          <p:nvPr>
            <p:ph type="body" idx="1"/>
          </p:nvPr>
        </p:nvSpPr>
        <p:spPr>
          <a:xfrm rot="5400000">
            <a:off x="590550" y="552450"/>
            <a:ext cx="5715000" cy="6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9711729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6"/>
          <p:cNvSpPr/>
          <p:nvPr/>
        </p:nvSpPr>
        <p:spPr>
          <a:xfrm>
            <a:off x="457201" y="2362202"/>
            <a:ext cx="8226425" cy="28575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C0C0C0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56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77" name="Google Shape;177;p56"/>
          <p:cNvSpPr txBox="1">
            <a:spLocks noGrp="1"/>
          </p:cNvSpPr>
          <p:nvPr>
            <p:ph type="subTitle" idx="1"/>
          </p:nvPr>
        </p:nvSpPr>
        <p:spPr>
          <a:xfrm>
            <a:off x="1295400" y="3124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2160"/>
              <a:buFont typeface="DFKai-SB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78" name="Google Shape;178;p56"/>
          <p:cNvSpPr txBox="1">
            <a:spLocks noGrp="1"/>
          </p:cNvSpPr>
          <p:nvPr>
            <p:ph type="sldNum" idx="12"/>
          </p:nvPr>
        </p:nvSpPr>
        <p:spPr>
          <a:xfrm>
            <a:off x="6804025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9" name="Google Shape;179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489" y="6292850"/>
            <a:ext cx="2146300" cy="56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389890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7"/>
          <p:cNvSpPr txBox="1"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2" name="Google Shape;182;p57"/>
          <p:cNvSpPr txBox="1">
            <a:spLocks noGrp="1"/>
          </p:cNvSpPr>
          <p:nvPr>
            <p:ph type="body" idx="1"/>
          </p:nvPr>
        </p:nvSpPr>
        <p:spPr>
          <a:xfrm>
            <a:off x="539751" y="981077"/>
            <a:ext cx="8135938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83" name="Google Shape;183;p57"/>
          <p:cNvSpPr txBox="1">
            <a:spLocks noGrp="1"/>
          </p:cNvSpPr>
          <p:nvPr>
            <p:ph type="sldNum" idx="12"/>
          </p:nvPr>
        </p:nvSpPr>
        <p:spPr>
          <a:xfrm>
            <a:off x="4082090" y="632637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59022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8"/>
          <p:cNvSpPr txBox="1">
            <a:spLocks noGrp="1"/>
          </p:cNvSpPr>
          <p:nvPr>
            <p:ph type="sldNum" idx="12"/>
          </p:nvPr>
        </p:nvSpPr>
        <p:spPr>
          <a:xfrm>
            <a:off x="3720583" y="63468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75071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1 個大物件與 2 個小物件" type="objAndTwoObj" preserve="1">
  <p:cSld name="標題，1 個大物件與 2 個小物件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9"/>
          <p:cNvSpPr txBox="1"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8" name="Google Shape;188;p59"/>
          <p:cNvSpPr txBox="1">
            <a:spLocks noGrp="1"/>
          </p:cNvSpPr>
          <p:nvPr>
            <p:ph type="body" idx="1"/>
          </p:nvPr>
        </p:nvSpPr>
        <p:spPr>
          <a:xfrm>
            <a:off x="539750" y="981077"/>
            <a:ext cx="3990975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89" name="Google Shape;189;p59"/>
          <p:cNvSpPr txBox="1">
            <a:spLocks noGrp="1"/>
          </p:cNvSpPr>
          <p:nvPr>
            <p:ph type="body" idx="2"/>
          </p:nvPr>
        </p:nvSpPr>
        <p:spPr>
          <a:xfrm>
            <a:off x="4683126" y="981075"/>
            <a:ext cx="3992563" cy="25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0" name="Google Shape;190;p59"/>
          <p:cNvSpPr txBox="1">
            <a:spLocks noGrp="1"/>
          </p:cNvSpPr>
          <p:nvPr>
            <p:ph type="body" idx="3"/>
          </p:nvPr>
        </p:nvSpPr>
        <p:spPr>
          <a:xfrm>
            <a:off x="4683126" y="3700465"/>
            <a:ext cx="3992563" cy="256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5760" algn="l">
              <a:spcBef>
                <a:spcPts val="360"/>
              </a:spcBef>
              <a:spcAft>
                <a:spcPts val="0"/>
              </a:spcAft>
              <a:buSzPts val="2160"/>
              <a:buChar char="․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⎯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1" name="Google Shape;191;p59"/>
          <p:cNvSpPr txBox="1">
            <a:spLocks noGrp="1"/>
          </p:cNvSpPr>
          <p:nvPr>
            <p:ph type="sldNum" idx="12"/>
          </p:nvPr>
        </p:nvSpPr>
        <p:spPr>
          <a:xfrm>
            <a:off x="3720583" y="63468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323015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 preserve="1">
  <p:cSld name="標題投影片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61" descr="Ntulogo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43800" y="152400"/>
            <a:ext cx="1600200" cy="16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1"/>
          <p:cNvSpPr/>
          <p:nvPr/>
        </p:nvSpPr>
        <p:spPr>
          <a:xfrm>
            <a:off x="3048000" y="685800"/>
            <a:ext cx="44958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D5D5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1"/>
          <p:cNvSpPr/>
          <p:nvPr/>
        </p:nvSpPr>
        <p:spPr>
          <a:xfrm>
            <a:off x="685800" y="3429000"/>
            <a:ext cx="44958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D5D5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61"/>
          <p:cNvSpPr/>
          <p:nvPr/>
        </p:nvSpPr>
        <p:spPr>
          <a:xfrm>
            <a:off x="4114800" y="6324600"/>
            <a:ext cx="4495800" cy="1524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rgbClr val="D5D5E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61"/>
          <p:cNvSpPr/>
          <p:nvPr/>
        </p:nvSpPr>
        <p:spPr>
          <a:xfrm>
            <a:off x="5562601" y="6172200"/>
            <a:ext cx="215539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8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8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8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8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8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8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8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8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8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208" name="Google Shape;208;p61"/>
          <p:cNvSpPr txBox="1"/>
          <p:nvPr/>
        </p:nvSpPr>
        <p:spPr>
          <a:xfrm>
            <a:off x="457200" y="381000"/>
            <a:ext cx="7086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sp>
        <p:nvSpPr>
          <p:cNvPr id="209" name="Google Shape;209;p61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0" name="Google Shape;210;p6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15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212623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 preserve="1">
  <p:cSld name="標題及物件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2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3" name="Google Shape;213;p62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SzPts val="1350"/>
              <a:buChar char="❖"/>
              <a:defRPr sz="135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14" name="Google Shape;214;p6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62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32872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 preserve="1">
  <p:cSld name="區段標題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3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8" name="Google Shape;218;p6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19" name="Google Shape;219;p6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63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03439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 preserve="1">
  <p:cSld name="兩項物件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4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3" name="Google Shape;223;p64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4" name="Google Shape;224;p64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⮚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SzPts val="1350"/>
              <a:buChar char="•"/>
              <a:defRPr sz="1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5" name="Google Shape;225;p6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64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9722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 preserve="1">
  <p:cSld name="比對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9" name="Google Shape;229;p6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0" name="Google Shape;230;p6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1" name="Google Shape;231;p65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2" name="Google Shape;232;p65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SzPts val="1500"/>
              <a:buChar char="❖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SzPts val="1350"/>
              <a:buChar char="⮚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3" name="Google Shape;233;p6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65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65213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 preserve="1">
  <p:cSld name="只有標題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6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7" name="Google Shape;237;p6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66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628913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 preserve="1">
  <p:cSld name="空白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67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479703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 preserve="1">
  <p:cSld name="含標題的內容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44" name="Google Shape;244;p68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SzPts val="2100"/>
              <a:buChar char="❖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5" name="Google Shape;245;p68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733487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 preserve="1">
  <p:cSld name="含標題的圖片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0" name="Google Shape;250;p6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6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SzPts val="675"/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2" name="Google Shape;252;p6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69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80718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 preserve="1">
  <p:cSld name="標題及直排文字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0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6" name="Google Shape;256;p70"/>
          <p:cNvSpPr txBox="1">
            <a:spLocks noGrp="1"/>
          </p:cNvSpPr>
          <p:nvPr>
            <p:ph type="body" idx="1"/>
          </p:nvPr>
        </p:nvSpPr>
        <p:spPr>
          <a:xfrm rot="5400000">
            <a:off x="2362200" y="152400"/>
            <a:ext cx="4419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7" name="Google Shape;257;p7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70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174055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 preserve="1">
  <p:cSld name="直排標題及文字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1"/>
          <p:cNvSpPr txBox="1">
            <a:spLocks noGrp="1"/>
          </p:cNvSpPr>
          <p:nvPr>
            <p:ph type="title"/>
          </p:nvPr>
        </p:nvSpPr>
        <p:spPr>
          <a:xfrm rot="5400000">
            <a:off x="4819650" y="2609850"/>
            <a:ext cx="53340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1" name="Google Shape;261;p71"/>
          <p:cNvSpPr txBox="1">
            <a:spLocks noGrp="1"/>
          </p:cNvSpPr>
          <p:nvPr>
            <p:ph type="body" idx="1"/>
          </p:nvPr>
        </p:nvSpPr>
        <p:spPr>
          <a:xfrm rot="5400000">
            <a:off x="857250" y="742950"/>
            <a:ext cx="53340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2" name="Google Shape;262;p7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71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25903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文字及物件" type="txAndObj" preserve="1">
  <p:cSld name="標題，文字及物件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2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6" name="Google Shape;266;p72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7" name="Google Shape;267;p72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8" name="Google Shape;268;p7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72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393336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在文字之上" type="objOverTx" preserve="1">
  <p:cSld name="標題及物件在文字之上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3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2" name="Google Shape;272;p73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3" name="Google Shape;273;p73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4" name="Google Shape;274;p7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73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486073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文字在物件之上" type="txOverObj" preserve="1">
  <p:cSld name="標題及文字在物件之上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4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8" name="Google Shape;278;p74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9" name="Google Shape;279;p74"/>
          <p:cNvSpPr txBox="1">
            <a:spLocks noGrp="1"/>
          </p:cNvSpPr>
          <p:nvPr>
            <p:ph type="body" idx="2"/>
          </p:nvPr>
        </p:nvSpPr>
        <p:spPr>
          <a:xfrm>
            <a:off x="685800" y="4114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0" name="Google Shape;280;p7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74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1900319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，文字及兩項物件" type="txAndTwoObj" preserve="1">
  <p:cSld name="標題，文字及兩項物件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5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4" name="Google Shape;284;p75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381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5" name="Google Shape;285;p75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38100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6" name="Google Shape;286;p75"/>
          <p:cNvSpPr txBox="1">
            <a:spLocks noGrp="1"/>
          </p:cNvSpPr>
          <p:nvPr>
            <p:ph type="body" idx="3"/>
          </p:nvPr>
        </p:nvSpPr>
        <p:spPr>
          <a:xfrm>
            <a:off x="4648200" y="4114800"/>
            <a:ext cx="38100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⮚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7" name="Google Shape;287;p7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75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83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ti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34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0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image" Target="../media/image8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image" Target="../media/image8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9.tif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7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80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96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4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3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6" Type="http://schemas.openxmlformats.org/officeDocument/2006/relationships/image" Target="../media/image15.png"/><Relationship Id="rId5" Type="http://schemas.openxmlformats.org/officeDocument/2006/relationships/theme" Target="../theme/theme15.xml"/><Relationship Id="rId4" Type="http://schemas.openxmlformats.org/officeDocument/2006/relationships/slideLayout" Target="../slideLayouts/slideLayout131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9.xml"/><Relationship Id="rId13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143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133.xml"/><Relationship Id="rId16" Type="http://schemas.openxmlformats.org/officeDocument/2006/relationships/theme" Target="../theme/theme16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36.xml"/><Relationship Id="rId1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1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380999" y="533400"/>
            <a:ext cx="7781925" cy="762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304800" y="217652"/>
            <a:ext cx="7909489" cy="3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18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18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18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800" i="1" dirty="0">
                <a:latin typeface="Arial Black" pitchFamily="34" charset="0"/>
              </a:rPr>
              <a:t>  </a:t>
            </a:r>
            <a:r>
              <a:rPr kumimoji="0" lang="zh-TW" altLang="en-US" sz="1800" i="1" dirty="0">
                <a:latin typeface="Arial Black" pitchFamily="34" charset="0"/>
              </a:rPr>
              <a:t>                                                   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40039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0" rIns="68558" bIns="34280">
            <a:spAutoFit/>
          </a:bodyPr>
          <a:lstStyle/>
          <a:p>
            <a:pPr eaLnBrk="0" hangingPunct="0"/>
            <a:r>
              <a:rPr lang="en-US" altLang="zh-TW" sz="1050" b="1"/>
              <a:t>P</a:t>
            </a:r>
            <a:fld id="{E0FF8C92-A794-40BC-BAC1-2D3349E2F883}" type="slidenum">
              <a:rPr lang="en-US" altLang="zh-TW" sz="1050" b="1"/>
              <a:pPr eaLnBrk="0" hangingPunct="0"/>
              <a:t>‹#›</a:t>
            </a:fld>
            <a:endParaRPr lang="en-US" altLang="zh-TW" sz="1050" b="1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975FF0-1035-4120-B289-0E067ECF203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5999" y="-33252"/>
            <a:ext cx="1182727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34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標楷體" pitchFamily="65" charset="-120"/>
          <a:cs typeface="新細明體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342788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685576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028363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371152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255985" indent="-255985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1pPr>
      <a:lvl2pPr marL="469106" indent="-21312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2pPr>
      <a:lvl3pPr marL="675085" indent="-17026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3pPr>
      <a:lvl4pPr marL="870347" indent="-17026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200">
          <a:solidFill>
            <a:schemeClr val="tx1"/>
          </a:solidFill>
          <a:latin typeface="+mj-lt"/>
          <a:ea typeface="標楷體" pitchFamily="65" charset="-120"/>
          <a:cs typeface="標楷體" pitchFamily="65" charset="-120"/>
        </a:defRPr>
      </a:lvl4pPr>
      <a:lvl5pPr marL="1075135" indent="-17026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1885332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6pPr>
      <a:lvl7pPr marL="2228121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7pPr>
      <a:lvl8pPr marL="2570909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8pPr>
      <a:lvl9pPr marL="2913697" indent="-17139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9"/>
        </a:buBlip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788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576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363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152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3938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27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515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302" algn="l" defTabSz="68557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500" i="1">
                <a:latin typeface="Arial Black" pitchFamily="34" charset="0"/>
              </a:rPr>
              <a:t>               </a:t>
            </a:r>
            <a:r>
              <a:rPr kumimoji="0" lang="en-US" altLang="zh-TW" sz="900" i="1">
                <a:latin typeface="Arial Black" pitchFamily="34" charset="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98242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7"/>
            <a:ext cx="75438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15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9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2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206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328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5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5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2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981077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9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4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18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9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5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18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1500">
          <a:solidFill>
            <a:srgbClr val="000099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1800">
          <a:solidFill>
            <a:srgbClr val="003300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1500">
          <a:solidFill>
            <a:srgbClr val="990000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06499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18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6500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18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57200" y="381002"/>
            <a:ext cx="73914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en-US" altLang="zh-TW" sz="15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5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15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5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15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15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15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5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5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500" i="1">
                <a:solidFill>
                  <a:srgbClr val="000000"/>
                </a:solidFill>
                <a:latin typeface="Arial Black" pitchFamily="34" charset="0"/>
              </a:rPr>
              <a:t>               </a:t>
            </a:r>
            <a:r>
              <a:rPr kumimoji="0" lang="en-US" altLang="zh-TW" sz="900" i="1">
                <a:solidFill>
                  <a:srgbClr val="000000"/>
                </a:solidFill>
                <a:latin typeface="Arial Black" pitchFamily="34" charset="0"/>
              </a:rPr>
              <a:t> </a:t>
            </a:r>
            <a:r>
              <a:rPr kumimoji="0" lang="en-US" altLang="zh-TW" sz="9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4100" name="Picture 6" descr="Ntulogo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228602"/>
            <a:ext cx="779463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en-US" dirty="0"/>
          </a:p>
        </p:txBody>
      </p:sp>
      <p:sp>
        <p:nvSpPr>
          <p:cNvPr id="410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050">
                <a:latin typeface="+mn-lt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3B53F9C4-6329-4AA3-8AA3-03FC09D7D97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050" i="1"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36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1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ea typeface="+mj-ea"/>
          <a:cs typeface="Calibri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15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35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35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8"/>
        </a:buBlip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C43712A9-8D67-40EC-9822-C1E663BD693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0999" y="533400"/>
            <a:ext cx="7781925" cy="7620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47F129D0-2B03-4FBC-88F4-A3E47F161A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217652"/>
            <a:ext cx="7909489" cy="34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558" tIns="34280" rIns="68558" bIns="3428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37931725" indent="-37474525"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kumimoji="0" lang="en-US" altLang="zh-TW" sz="1800" i="1" dirty="0">
                <a:solidFill>
                  <a:srgbClr val="061244"/>
                </a:solidFill>
                <a:latin typeface="Arial Black" pitchFamily="34" charset="0"/>
              </a:rPr>
              <a:t>CE</a:t>
            </a:r>
            <a:r>
              <a:rPr kumimoji="0" lang="en-US" altLang="zh-TW" sz="1800" i="1" dirty="0">
                <a:solidFill>
                  <a:srgbClr val="0A1D6E"/>
                </a:solidFill>
                <a:latin typeface="Arial Black" pitchFamily="34" charset="0"/>
              </a:rPr>
              <a:t>R</a:t>
            </a:r>
            <a:r>
              <a:rPr kumimoji="0" lang="en-US" altLang="zh-TW" sz="1800" i="1" dirty="0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1800" i="1" dirty="0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1800" i="1" dirty="0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1800" i="1" dirty="0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1800" i="1" dirty="0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1800" i="1" dirty="0">
                <a:latin typeface="Arial Black" pitchFamily="34" charset="0"/>
              </a:rPr>
              <a:t>  </a:t>
            </a:r>
            <a:r>
              <a:rPr kumimoji="0" lang="zh-TW" altLang="en-US" sz="1800" i="1" dirty="0">
                <a:latin typeface="Arial Black" pitchFamily="34" charset="0"/>
              </a:rPr>
              <a:t>                                                    </a:t>
            </a:r>
            <a:r>
              <a:rPr kumimoji="0" lang="en-US" altLang="zh-TW" sz="1200" b="1" i="1" dirty="0">
                <a:solidFill>
                  <a:srgbClr val="303030"/>
                </a:solidFill>
                <a:cs typeface="Arial" pitchFamily="34" charset="0"/>
              </a:rPr>
              <a:t>Institute of Electronics, NYCU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9429AE71-4DCF-4680-808B-D798ED89B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0" tIns="45706" rIns="91410" bIns="45706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D648DC8-8E6C-475C-8A98-C76C95A32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0" tIns="45706" rIns="91410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  <a:endParaRPr lang="en-US" altLang="zh-TW" dirty="0"/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6964A19-B399-4ADF-9B64-74B59BC9B3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0" rIns="68558" bIns="34280">
            <a:spAutoFit/>
          </a:bodyPr>
          <a:lstStyle/>
          <a:p>
            <a:pPr eaLnBrk="0" hangingPunct="0"/>
            <a:r>
              <a:rPr lang="en-US" altLang="zh-TW" sz="1050" b="1"/>
              <a:t>P</a:t>
            </a:r>
            <a:fld id="{E0FF8C92-A794-40BC-BAC1-2D3349E2F883}" type="slidenum">
              <a:rPr lang="en-US" altLang="zh-TW" sz="1050" b="1"/>
              <a:pPr eaLnBrk="0" hangingPunct="0"/>
              <a:t>‹#›</a:t>
            </a:fld>
            <a:endParaRPr lang="en-US" altLang="zh-TW" sz="1050" b="1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4260881-E681-44F7-A292-5F273A3306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81000" y="6629400"/>
            <a:ext cx="8070850" cy="8255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 sz="135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AB09D7CA-AE5F-AB69-DF08-44530E55ACC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693" y="89980"/>
            <a:ext cx="836859" cy="82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8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微軟正黑體" panose="020B0604030504040204" pitchFamily="34" charset="-120"/>
          <a:cs typeface="微軟正黑體" panose="020B0604030504040204" pitchFamily="34" charset="-12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標楷體" pitchFamily="65" charset="-120"/>
          <a:cs typeface="新細明體" charset="-120"/>
        </a:defRPr>
      </a:lvl5pPr>
      <a:lvl6pPr marL="45705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6pPr>
      <a:lvl7pPr marL="91410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7pPr>
      <a:lvl8pPr marL="1371151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8pPr>
      <a:lvl9pPr marL="1828202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charset="-120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3333CC"/>
        </a:buClr>
        <a:buFont typeface="Wingdings" pitchFamily="2" charset="2"/>
        <a:buChar char="v"/>
        <a:defRPr kumimoji="1" sz="20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1pPr>
      <a:lvl2pPr marL="625475" indent="-284163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2pPr>
      <a:lvl3pPr marL="900113" indent="-227013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3pPr>
      <a:lvl4pPr marL="1160463" indent="-227013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Font typeface="Wingdings" pitchFamily="2" charset="2"/>
        <a:buChar char="Ø"/>
        <a:defRPr kumimoji="1" sz="18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微軟正黑體" panose="020B0604030504040204" pitchFamily="34" charset="-120"/>
        </a:defRPr>
      </a:lvl4pPr>
      <a:lvl5pPr marL="1433513" indent="-227013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  <a:cs typeface="新細明體" charset="-120"/>
        </a:defRPr>
      </a:lvl5pPr>
      <a:lvl6pPr marL="2513776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082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7878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4929" indent="-228524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8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0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1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2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5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03" algn="l" defTabSz="914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+mn-lt"/>
                <a:ea typeface="+mn-ea"/>
              </a:endParaRPr>
            </a:p>
          </p:txBody>
        </p:sp>
      </p:grp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5124" name="Picture 6" descr="Ntulogo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51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/>
              <a:t>P</a:t>
            </a:r>
            <a:fld id="{77AD3F1B-307F-4955-8069-98C95E8956F5}" type="slidenum">
              <a:rPr kumimoji="0" lang="en-US" altLang="zh-TW"/>
              <a:pPr eaLnBrk="0" hangingPunct="0"/>
              <a:t>‹#›</a:t>
            </a:fld>
            <a:endParaRPr kumimoji="0" lang="en-US" altLang="zh-TW"/>
          </a:p>
        </p:txBody>
      </p:sp>
    </p:spTree>
    <p:extLst>
      <p:ext uri="{BB962C8B-B14F-4D97-AF65-F5344CB8AC3E}">
        <p14:creationId xmlns:p14="http://schemas.microsoft.com/office/powerpoint/2010/main" val="181220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373763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  <p:sp>
          <p:nvSpPr>
            <p:cNvPr id="373764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solidFill>
                  <a:srgbClr val="000000"/>
                </a:solidFill>
                <a:latin typeface="Arial"/>
                <a:ea typeface="新細明體"/>
              </a:endParaRPr>
            </a:p>
          </p:txBody>
        </p:sp>
      </p:grp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304800" y="136525"/>
            <a:ext cx="7543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  <a:ea typeface="新細明體" charset="-12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  <a:ea typeface="新細明體" charset="-12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  <a:ea typeface="新細明體" charset="-12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  <a:ea typeface="新細明體" charset="-12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  <a:ea typeface="新細明體" charset="-12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  <a:ea typeface="新細明體" charset="-12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  <a:ea typeface="新細明體" charset="-12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  <a:ea typeface="新細明體" charset="-12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  <a:ea typeface="新細明體" charset="-12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ea typeface="新細明體" charset="-120"/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60422" name="Picture 6" descr="Ntulogo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288338" y="0"/>
            <a:ext cx="779462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620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/>
          </a:p>
        </p:txBody>
      </p:sp>
      <p:sp>
        <p:nvSpPr>
          <p:cNvPr id="60424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76400"/>
            <a:ext cx="800258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316913" y="64912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TW">
                <a:solidFill>
                  <a:srgbClr val="000000"/>
                </a:solidFill>
                <a:ea typeface="新細明體" charset="-120"/>
              </a:rPr>
              <a:t>P</a:t>
            </a:r>
            <a:fld id="{C86545E2-EEFB-4DC4-8865-69F029E42BB0}" type="slidenum">
              <a:rPr kumimoji="0" lang="en-US" altLang="zh-TW">
                <a:solidFill>
                  <a:srgbClr val="000000"/>
                </a:solidFill>
                <a:ea typeface="新細明體" charset="-120"/>
              </a:rPr>
              <a:pPr eaLnBrk="0" hangingPunct="0"/>
              <a:t>‹#›</a:t>
            </a:fld>
            <a:endParaRPr kumimoji="0" lang="en-US" altLang="zh-TW">
              <a:solidFill>
                <a:srgbClr val="000000"/>
              </a:solidFill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367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4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5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8070850" cy="68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981075"/>
            <a:ext cx="8135938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2598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0583" y="6346825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ea typeface="新細明體" pitchFamily="18" charset="-120"/>
              </a:defRPr>
            </a:lvl1pPr>
          </a:lstStyle>
          <a:p>
            <a:pPr>
              <a:defRPr/>
            </a:pPr>
            <a:fld id="{B7B1E775-0B96-40A8-8227-29B88E58C56A}" type="slidenum">
              <a:rPr lang="en-US" altLang="zh-TW" smtClean="0">
                <a:solidFill>
                  <a:srgbClr val="000000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en-US" altLang="zh-TW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gray">
          <a:xfrm>
            <a:off x="468313" y="865188"/>
            <a:ext cx="8226425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438" y="6292850"/>
            <a:ext cx="21463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99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20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06499" name="Rectangle 3"/>
            <p:cNvSpPr>
              <a:spLocks noChangeArrowheads="1"/>
            </p:cNvSpPr>
            <p:nvPr/>
          </p:nvSpPr>
          <p:spPr bwMode="auto">
            <a:xfrm>
              <a:off x="288" y="480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6500" name="Rectangle 4"/>
            <p:cNvSpPr>
              <a:spLocks noChangeArrowheads="1"/>
            </p:cNvSpPr>
            <p:nvPr/>
          </p:nvSpPr>
          <p:spPr bwMode="auto">
            <a:xfrm>
              <a:off x="288" y="4032"/>
              <a:ext cx="5184" cy="48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33725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457200" y="381000"/>
            <a:ext cx="7391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0" lang="en-US" altLang="zh-TW" sz="2000" i="1">
                <a:solidFill>
                  <a:srgbClr val="061244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0A1D6E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0E2898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1234C2"/>
                </a:solidFill>
                <a:latin typeface="Arial Black" pitchFamily="34" charset="0"/>
              </a:rPr>
              <a:t>E</a:t>
            </a:r>
            <a:r>
              <a:rPr kumimoji="0" lang="en-US" altLang="zh-TW" sz="2000" i="1">
                <a:solidFill>
                  <a:srgbClr val="1840EA"/>
                </a:solidFill>
                <a:latin typeface="Arial Black" pitchFamily="34" charset="0"/>
              </a:rPr>
              <a:t>S</a:t>
            </a:r>
            <a:r>
              <a:rPr kumimoji="0" lang="en-US" altLang="zh-TW" sz="2000" i="1">
                <a:solidFill>
                  <a:srgbClr val="2349EB"/>
                </a:solidFill>
                <a:latin typeface="Arial Black" pitchFamily="34" charset="0"/>
              </a:rPr>
              <a:t>S </a:t>
            </a:r>
            <a:r>
              <a:rPr kumimoji="0" lang="en-US" altLang="zh-TW" sz="2000" i="1">
                <a:solidFill>
                  <a:srgbClr val="4767EF"/>
                </a:solidFill>
                <a:latin typeface="Arial Black" pitchFamily="34" charset="0"/>
              </a:rPr>
              <a:t>I</a:t>
            </a:r>
            <a:r>
              <a:rPr kumimoji="0" lang="en-US" altLang="zh-TW" sz="2000" i="1">
                <a:solidFill>
                  <a:srgbClr val="6781F1"/>
                </a:solidFill>
                <a:latin typeface="Arial Black" pitchFamily="34" charset="0"/>
              </a:rPr>
              <a:t>C</a:t>
            </a:r>
            <a:r>
              <a:rPr kumimoji="0" lang="en-US" altLang="zh-TW" sz="2000" i="1">
                <a:solidFill>
                  <a:srgbClr val="3558ED"/>
                </a:solidFill>
                <a:latin typeface="Arial Black" pitchFamily="34" charset="0"/>
              </a:rPr>
              <a:t> </a:t>
            </a:r>
            <a:r>
              <a:rPr kumimoji="0" lang="en-US" altLang="zh-TW" sz="2000" i="1">
                <a:solidFill>
                  <a:srgbClr val="869BF4"/>
                </a:solidFill>
                <a:latin typeface="Arial Black" pitchFamily="34" charset="0"/>
              </a:rPr>
              <a:t>L</a:t>
            </a:r>
            <a:r>
              <a:rPr kumimoji="0" lang="en-US" altLang="zh-TW" sz="2000" i="1">
                <a:solidFill>
                  <a:srgbClr val="A7B6F7"/>
                </a:solidFill>
                <a:latin typeface="Arial Black" pitchFamily="34" charset="0"/>
              </a:rPr>
              <a:t>A</a:t>
            </a:r>
            <a:r>
              <a:rPr kumimoji="0" lang="en-US" altLang="zh-TW" sz="2000" i="1">
                <a:solidFill>
                  <a:srgbClr val="CDD6FB"/>
                </a:solidFill>
                <a:latin typeface="Arial Black" pitchFamily="34" charset="0"/>
              </a:rPr>
              <a:t>B</a:t>
            </a:r>
            <a:r>
              <a:rPr kumimoji="0" lang="en-US" altLang="zh-TW" sz="2000" i="1">
                <a:solidFill>
                  <a:srgbClr val="000000"/>
                </a:solidFill>
                <a:latin typeface="Arial Black" pitchFamily="34" charset="0"/>
              </a:rPr>
              <a:t>               </a:t>
            </a:r>
            <a:r>
              <a:rPr kumimoji="0" lang="en-US" altLang="zh-TW" sz="1200" i="1">
                <a:solidFill>
                  <a:srgbClr val="000000"/>
                </a:solidFill>
                <a:latin typeface="Arial Black" pitchFamily="34" charset="0"/>
              </a:rPr>
              <a:t> </a:t>
            </a:r>
            <a:r>
              <a:rPr kumimoji="0" lang="en-US" altLang="zh-TW" sz="1200" b="1" i="1">
                <a:solidFill>
                  <a:srgbClr val="303030"/>
                </a:solidFill>
                <a:cs typeface="Arial" charset="0"/>
              </a:rPr>
              <a:t>Graduate Institute of Electronics Engineering, NTU</a:t>
            </a:r>
          </a:p>
        </p:txBody>
      </p:sp>
      <p:pic>
        <p:nvPicPr>
          <p:cNvPr id="4100" name="Picture 6" descr="Ntulogo3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779463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3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14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en-US" dirty="0"/>
          </a:p>
        </p:txBody>
      </p:sp>
      <p:sp>
        <p:nvSpPr>
          <p:cNvPr id="410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65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latin typeface="+mn-lt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srgbClr val="000000"/>
                </a:solidFill>
              </a:rPr>
              <a:t>P. </a:t>
            </a:r>
            <a:fld id="{3B53F9C4-6329-4AA3-8AA3-03FC09D7D97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65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 i="1"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2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ea typeface="+mj-ea"/>
          <a:cs typeface="Calibri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v"/>
        <a:defRPr kumimoji="1" sz="20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v"/>
        <a:defRPr kumimoji="1"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kumimoji="1" sz="18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Font typeface="Wingdings" pitchFamily="2" charset="2"/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CC66"/>
        </a:buClr>
        <a:buFont typeface="Wingdings" pitchFamily="2" charset="2"/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380999" y="533400"/>
            <a:ext cx="7781925" cy="762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7"/>
          <p:cNvSpPr txBox="1"/>
          <p:nvPr/>
        </p:nvSpPr>
        <p:spPr>
          <a:xfrm>
            <a:off x="304800" y="217652"/>
            <a:ext cx="7909489" cy="34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1800" b="0" i="1" u="none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1800" b="0" i="1" u="none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800" b="0" i="1" u="none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800" b="0" i="1" u="none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800" b="0" i="1" u="none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b="0" i="1" u="none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800" b="0" i="1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                                       </a:t>
            </a:r>
            <a:r>
              <a:rPr lang="en-US" sz="1200" b="1" i="1" u="non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8064A2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9BBB59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rgbClr val="FFCC66"/>
              </a:buClr>
              <a:buSzPts val="1600"/>
              <a:buFont typeface="Noto Sans Symbols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/>
          <p:nvPr/>
        </p:nvSpPr>
        <p:spPr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7"/>
          <p:cNvSpPr/>
          <p:nvPr/>
        </p:nvSpPr>
        <p:spPr>
          <a:xfrm>
            <a:off x="381000" y="6629400"/>
            <a:ext cx="8070850" cy="8255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7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52693" y="89980"/>
            <a:ext cx="836859" cy="829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2836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/>
          <p:nvPr/>
        </p:nvSpPr>
        <p:spPr>
          <a:xfrm>
            <a:off x="380999" y="533400"/>
            <a:ext cx="7781925" cy="7620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4"/>
          <p:cNvSpPr txBox="1"/>
          <p:nvPr/>
        </p:nvSpPr>
        <p:spPr>
          <a:xfrm>
            <a:off x="304800" y="217652"/>
            <a:ext cx="7909489" cy="34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CE</a:t>
            </a:r>
            <a:r>
              <a:rPr lang="en-US" sz="18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18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8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8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8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8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800" i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                                       </a:t>
            </a:r>
            <a:r>
              <a:rPr lang="en-US" sz="12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Institute of Electronics, NYCU</a:t>
            </a:r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1"/>
          </p:nvPr>
        </p:nvSpPr>
        <p:spPr>
          <a:xfrm>
            <a:off x="381000" y="1676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3333CC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8064A2"/>
              </a:buClr>
              <a:buSzPts val="1800"/>
              <a:buFont typeface="Noto Sans Symbols"/>
              <a:buChar char="⮚"/>
              <a:defRPr sz="18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rgbClr val="9BBB59"/>
              </a:buClr>
              <a:buSzPts val="1200"/>
              <a:buFont typeface="Noto Sans Symbols"/>
              <a:buChar char="⮚"/>
              <a:defRPr sz="12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spcBef>
                <a:spcPts val="240"/>
              </a:spcBef>
              <a:spcAft>
                <a:spcPts val="0"/>
              </a:spcAft>
              <a:buClr>
                <a:srgbClr val="FFCC66"/>
              </a:buClr>
              <a:buSzPts val="1200"/>
              <a:buFont typeface="Noto Sans Symbols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24"/>
          <p:cNvSpPr/>
          <p:nvPr/>
        </p:nvSpPr>
        <p:spPr>
          <a:xfrm>
            <a:off x="8545514" y="6519864"/>
            <a:ext cx="393333" cy="23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4"/>
          <p:cNvSpPr/>
          <p:nvPr/>
        </p:nvSpPr>
        <p:spPr>
          <a:xfrm>
            <a:off x="381000" y="6629400"/>
            <a:ext cx="8070850" cy="82550"/>
          </a:xfrm>
          <a:prstGeom prst="rect">
            <a:avLst/>
          </a:prstGeom>
          <a:gradFill>
            <a:gsLst>
              <a:gs pos="0">
                <a:srgbClr val="3333CC"/>
              </a:gs>
              <a:gs pos="100000">
                <a:srgbClr val="CC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75999" y="-33252"/>
            <a:ext cx="1182727" cy="10242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59441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31"/>
          <p:cNvGrpSpPr/>
          <p:nvPr/>
        </p:nvGrpSpPr>
        <p:grpSpPr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80" name="Google Shape;80;p31"/>
            <p:cNvSpPr/>
            <p:nvPr/>
          </p:nvSpPr>
          <p:spPr>
            <a:xfrm>
              <a:off x="288" y="480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1"/>
            <p:cNvSpPr/>
            <p:nvPr/>
          </p:nvSpPr>
          <p:spPr>
            <a:xfrm>
              <a:off x="288" y="4032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31"/>
          <p:cNvSpPr txBox="1"/>
          <p:nvPr/>
        </p:nvSpPr>
        <p:spPr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5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5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5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5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5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5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500" i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</a:t>
            </a:r>
            <a:r>
              <a:rPr lang="en-US" sz="900" i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pic>
        <p:nvPicPr>
          <p:cNvPr id="83" name="Google Shape;83;p31" descr="Ntulogo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1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31"/>
          <p:cNvSpPr/>
          <p:nvPr/>
        </p:nvSpPr>
        <p:spPr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4980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43"/>
          <p:cNvGrpSpPr/>
          <p:nvPr/>
        </p:nvGrpSpPr>
        <p:grpSpPr>
          <a:xfrm>
            <a:off x="381000" y="533400"/>
            <a:ext cx="7848600" cy="6172200"/>
            <a:chOff x="288" y="480"/>
            <a:chExt cx="5184" cy="3600"/>
          </a:xfrm>
        </p:grpSpPr>
        <p:sp>
          <p:nvSpPr>
            <p:cNvPr id="125" name="Google Shape;125;p43"/>
            <p:cNvSpPr/>
            <p:nvPr/>
          </p:nvSpPr>
          <p:spPr>
            <a:xfrm>
              <a:off x="288" y="480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3"/>
            <p:cNvSpPr/>
            <p:nvPr/>
          </p:nvSpPr>
          <p:spPr>
            <a:xfrm>
              <a:off x="288" y="4032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43"/>
          <p:cNvSpPr txBox="1"/>
          <p:nvPr/>
        </p:nvSpPr>
        <p:spPr>
          <a:xfrm>
            <a:off x="304800" y="136527"/>
            <a:ext cx="75438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5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5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5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5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5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5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5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</a:t>
            </a:r>
            <a:r>
              <a:rPr lang="en-US" sz="9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pic>
        <p:nvPicPr>
          <p:cNvPr id="128" name="Google Shape;128;p43" descr="Ntulogo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88338" y="2"/>
            <a:ext cx="779462" cy="76041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8002588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❖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43"/>
          <p:cNvSpPr/>
          <p:nvPr/>
        </p:nvSpPr>
        <p:spPr>
          <a:xfrm>
            <a:off x="8316913" y="6491288"/>
            <a:ext cx="6206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fld id="{00000000-1234-1234-1234-123412341234}" type="slidenum"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0553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5"/>
          <p:cNvSpPr txBox="1">
            <a:spLocks noGrp="1"/>
          </p:cNvSpPr>
          <p:nvPr>
            <p:ph type="title"/>
          </p:nvPr>
        </p:nvSpPr>
        <p:spPr>
          <a:xfrm>
            <a:off x="533400" y="152402"/>
            <a:ext cx="8070850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" name="Google Shape;170;p55"/>
          <p:cNvSpPr txBox="1">
            <a:spLocks noGrp="1"/>
          </p:cNvSpPr>
          <p:nvPr>
            <p:ph type="body" idx="1"/>
          </p:nvPr>
        </p:nvSpPr>
        <p:spPr>
          <a:xfrm>
            <a:off x="539751" y="981077"/>
            <a:ext cx="8135938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576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DFKai-SB"/>
              <a:buChar char="․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0987" algn="l" rtl="0"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825"/>
              <a:buFont typeface="Noto Sans Symbols"/>
              <a:buChar char="⎯"/>
              <a:defRPr sz="15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003300"/>
              </a:buClr>
              <a:buSzPts val="900"/>
              <a:buFont typeface="Noto Sans Symbols"/>
              <a:buChar char="■"/>
              <a:defRPr sz="1800" b="0" i="0" u="none" strike="noStrike" cap="none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0987" algn="l" rtl="0">
              <a:spcBef>
                <a:spcPts val="300"/>
              </a:spcBef>
              <a:spcAft>
                <a:spcPts val="0"/>
              </a:spcAft>
              <a:buClr>
                <a:srgbClr val="990000"/>
              </a:buClr>
              <a:buSzPts val="825"/>
              <a:buFont typeface="Noto Sans Symbols"/>
              <a:buChar char="■"/>
              <a:defRPr sz="1500" b="0" i="0" u="none" strike="noStrike" cap="non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76225" algn="l" rtl="0">
              <a:spcBef>
                <a:spcPts val="300"/>
              </a:spcBef>
              <a:spcAft>
                <a:spcPts val="0"/>
              </a:spcAft>
              <a:buClr>
                <a:srgbClr val="000066"/>
              </a:buClr>
              <a:buSzPts val="750"/>
              <a:buFont typeface="Noto Sans Symbols"/>
              <a:buChar char="■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55"/>
          <p:cNvSpPr txBox="1">
            <a:spLocks noGrp="1"/>
          </p:cNvSpPr>
          <p:nvPr>
            <p:ph type="sldNum" idx="12"/>
          </p:nvPr>
        </p:nvSpPr>
        <p:spPr>
          <a:xfrm>
            <a:off x="3720583" y="63468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55"/>
          <p:cNvSpPr/>
          <p:nvPr/>
        </p:nvSpPr>
        <p:spPr>
          <a:xfrm>
            <a:off x="468314" y="865188"/>
            <a:ext cx="8226425" cy="28575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C0C0C0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3" name="Google Shape;173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8439" y="6292850"/>
            <a:ext cx="2146300" cy="565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18691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60"/>
          <p:cNvGrpSpPr/>
          <p:nvPr/>
        </p:nvGrpSpPr>
        <p:grpSpPr>
          <a:xfrm>
            <a:off x="457200" y="762000"/>
            <a:ext cx="8229600" cy="5715000"/>
            <a:chOff x="288" y="480"/>
            <a:chExt cx="5184" cy="3600"/>
          </a:xfrm>
        </p:grpSpPr>
        <p:sp>
          <p:nvSpPr>
            <p:cNvPr id="194" name="Google Shape;194;p60"/>
            <p:cNvSpPr/>
            <p:nvPr/>
          </p:nvSpPr>
          <p:spPr>
            <a:xfrm>
              <a:off x="288" y="480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60"/>
            <p:cNvSpPr/>
            <p:nvPr/>
          </p:nvSpPr>
          <p:spPr>
            <a:xfrm>
              <a:off x="288" y="4032"/>
              <a:ext cx="5184" cy="4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D5D5E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6" name="Google Shape;196;p60"/>
          <p:cNvSpPr txBox="1"/>
          <p:nvPr/>
        </p:nvSpPr>
        <p:spPr>
          <a:xfrm>
            <a:off x="457200" y="381002"/>
            <a:ext cx="7391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>
                <a:solidFill>
                  <a:srgbClr val="061244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0A1D6E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0E2898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1234C2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lang="en-US" sz="1500" i="1">
                <a:solidFill>
                  <a:srgbClr val="1840EA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lang="en-US" sz="1500" i="1">
                <a:solidFill>
                  <a:srgbClr val="2349EB"/>
                </a:solidFill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lang="en-US" sz="1500" i="1">
                <a:solidFill>
                  <a:srgbClr val="4767EF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lang="en-US" sz="1500" i="1">
                <a:solidFill>
                  <a:srgbClr val="6781F1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lang="en-US" sz="1500" i="1">
                <a:solidFill>
                  <a:srgbClr val="3558ED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1500" i="1">
                <a:solidFill>
                  <a:srgbClr val="869BF4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r>
              <a:rPr lang="en-US" sz="1500" i="1">
                <a:solidFill>
                  <a:srgbClr val="A7B6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lang="en-US" sz="1500" i="1">
                <a:solidFill>
                  <a:srgbClr val="CDD6FB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lang="en-US" sz="15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            </a:t>
            </a:r>
            <a:r>
              <a:rPr lang="en-US" sz="900" i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900" b="1" i="1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Engineering, NTU</a:t>
            </a:r>
            <a:endParaRPr/>
          </a:p>
        </p:txBody>
      </p:sp>
      <p:pic>
        <p:nvPicPr>
          <p:cNvPr id="197" name="Google Shape;197;p60" descr="Ntulogo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924801" y="228602"/>
            <a:ext cx="779463" cy="7604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0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" name="Google Shape;199;p60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❖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4325" algn="l" rtl="0">
              <a:spcBef>
                <a:spcPts val="270"/>
              </a:spcBef>
              <a:spcAft>
                <a:spcPts val="0"/>
              </a:spcAft>
              <a:buClr>
                <a:srgbClr val="FF0000"/>
              </a:buClr>
              <a:buSzPts val="1350"/>
              <a:buFont typeface="Noto Sans Symbols"/>
              <a:buChar char="❖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4325" algn="l" rtl="0">
              <a:spcBef>
                <a:spcPts val="27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Noto Sans Symbols"/>
              <a:buChar char="⮚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rgbClr val="FFCC66"/>
              </a:buClr>
              <a:buSzPts val="1500"/>
              <a:buFont typeface="Noto Sans Symbols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FFCC66"/>
              </a:buClr>
              <a:buSzPts val="1800"/>
              <a:buFont typeface="Noto Sans Symbols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6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60"/>
          <p:cNvSpPr txBox="1">
            <a:spLocks noGrp="1"/>
          </p:cNvSpPr>
          <p:nvPr>
            <p:ph type="ftr" idx="11"/>
          </p:nvPr>
        </p:nvSpPr>
        <p:spPr>
          <a:xfrm>
            <a:off x="3124200" y="64770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4015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685806" y="2133600"/>
            <a:ext cx="7772400" cy="1214438"/>
          </a:xfrm>
        </p:spPr>
        <p:txBody>
          <a:bodyPr/>
          <a:lstStyle/>
          <a:p>
            <a:r>
              <a:rPr lang="en-US" altLang="zh-TW" dirty="0" err="1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  <a:t>MLchip</a:t>
            </a:r>
            <a:r>
              <a:rPr lang="en-US" altLang="zh-TW" dirty="0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  <a:t> Lab3</a:t>
            </a:r>
            <a:br>
              <a:rPr lang="en-US" altLang="zh-TW" dirty="0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+mn-lt"/>
                <a:ea typeface="標楷體" panose="03000509000000000000" pitchFamily="65" charset="-120"/>
                <a:cs typeface="Times New Roman" panose="02020603050405020304" pitchFamily="18" charset="0"/>
              </a:rPr>
              <a:t>DMA</a:t>
            </a:r>
            <a:endParaRPr lang="zh-TW" altLang="en-US" dirty="0">
              <a:latin typeface="+mn-lt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97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D48EDE-7E8E-4B91-AAF0-F033E631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Handshake Process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A1906E-5C3C-4578-8894-3B7481C64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54139"/>
            <a:ext cx="4006066" cy="4822861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data transmission successfully if </a:t>
            </a:r>
            <a:r>
              <a:rPr lang="en-US" altLang="zh-TW" b="1" dirty="0">
                <a:latin typeface="+mn-lt"/>
              </a:rPr>
              <a:t>(valid &amp; ready)</a:t>
            </a:r>
            <a:endParaRPr lang="zh-TW" altLang="en-US" b="1" dirty="0">
              <a:latin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141EEE-6AC0-4DD1-BD5D-C5329CDE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65" y="1704076"/>
            <a:ext cx="3798870" cy="18509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9D85558-9D70-4A11-B4FB-6D7D671B19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9"/>
          <a:stretch/>
        </p:blipFill>
        <p:spPr>
          <a:xfrm>
            <a:off x="380999" y="3629960"/>
            <a:ext cx="5668766" cy="287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8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79595-8EF9-4541-8DA5-E6CDD8458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62000"/>
            <a:ext cx="7620000" cy="493161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Handshake Dependencies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7B2B32-1D1D-4110-8560-0E30F54C0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87011"/>
            <a:ext cx="8146552" cy="5089989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The </a:t>
            </a:r>
            <a:r>
              <a:rPr lang="en-US" altLang="zh-TW" b="1" dirty="0">
                <a:latin typeface="+mn-lt"/>
              </a:rPr>
              <a:t>VALID</a:t>
            </a:r>
            <a:r>
              <a:rPr lang="en-US" altLang="zh-TW" dirty="0">
                <a:latin typeface="+mn-lt"/>
              </a:rPr>
              <a:t> signal of the transmitter must be independent of the </a:t>
            </a:r>
            <a:r>
              <a:rPr lang="en-US" altLang="zh-TW" b="1" dirty="0">
                <a:latin typeface="+mn-lt"/>
              </a:rPr>
              <a:t>READY</a:t>
            </a:r>
            <a:r>
              <a:rPr lang="en-US" altLang="zh-TW" dirty="0">
                <a:latin typeface="+mn-lt"/>
              </a:rPr>
              <a:t> signal of the receiver in a transaction. (avoid deadlock)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The </a:t>
            </a:r>
            <a:r>
              <a:rPr lang="en-US" altLang="zh-TW" b="1" dirty="0">
                <a:latin typeface="+mn-lt"/>
              </a:rPr>
              <a:t>READY</a:t>
            </a:r>
            <a:r>
              <a:rPr lang="en-US" altLang="zh-TW" dirty="0">
                <a:latin typeface="+mn-lt"/>
              </a:rPr>
              <a:t> signal of the receiver can wait for the assertion of the </a:t>
            </a:r>
            <a:r>
              <a:rPr lang="en-US" altLang="zh-TW" b="1" dirty="0">
                <a:latin typeface="+mn-lt"/>
              </a:rPr>
              <a:t>VALID</a:t>
            </a:r>
            <a:r>
              <a:rPr lang="en-US" altLang="zh-TW" dirty="0">
                <a:latin typeface="+mn-lt"/>
              </a:rPr>
              <a:t> signal of the transmitter.</a:t>
            </a:r>
          </a:p>
          <a:p>
            <a:endParaRPr lang="en-US" altLang="zh-TW" dirty="0">
              <a:latin typeface="+mn-lt"/>
            </a:endParaRPr>
          </a:p>
          <a:p>
            <a:endParaRPr lang="zh-TW" altLang="en-US" dirty="0">
              <a:latin typeface="+mn-lt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CA3329A-3D19-451B-B13A-B6D76686C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20" y="4696060"/>
            <a:ext cx="3604495" cy="19492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5B1D555-9EB3-4E4A-B121-56E4553E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20802"/>
            <a:ext cx="3618583" cy="183995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6C404F2-AE2A-4173-8416-68AFEFC74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796" y="4660760"/>
            <a:ext cx="3813176" cy="198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65EA96-279D-47D0-AB97-8155E826B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Simplified AXI</a:t>
            </a:r>
            <a:r>
              <a:rPr lang="zh-TW" altLang="en-US" dirty="0">
                <a:latin typeface="+mn-lt"/>
              </a:rPr>
              <a:t> </a:t>
            </a:r>
            <a:r>
              <a:rPr lang="en-US" altLang="zh-TW" dirty="0">
                <a:latin typeface="+mn-lt"/>
              </a:rPr>
              <a:t>protocol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6BCF3A-5DE1-4756-BAAD-023B8DCE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Read Channel</a:t>
            </a:r>
          </a:p>
          <a:p>
            <a:pPr lvl="1"/>
            <a:r>
              <a:rPr lang="en-US" altLang="zh-TW" dirty="0">
                <a:latin typeface="+mn-lt"/>
              </a:rPr>
              <a:t>Read address channel</a:t>
            </a:r>
          </a:p>
          <a:p>
            <a:pPr lvl="1"/>
            <a:r>
              <a:rPr lang="en-US" altLang="zh-TW" dirty="0">
                <a:latin typeface="+mn-lt"/>
              </a:rPr>
              <a:t>Read data channel</a:t>
            </a:r>
          </a:p>
          <a:p>
            <a:pPr marL="341312" lvl="1" indent="0">
              <a:buNone/>
            </a:pPr>
            <a:endParaRPr lang="en-US" altLang="zh-TW" dirty="0">
              <a:latin typeface="+mn-lt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4D4A2FA-1783-4008-B03F-A319D051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535" y="5273660"/>
            <a:ext cx="4848922" cy="120333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13E2CB0-60C3-49E8-A68C-2E028C653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331" y="1777429"/>
            <a:ext cx="5257329" cy="360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0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053099-EE69-4472-959D-A4C37A61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Simplified AXI</a:t>
            </a:r>
            <a:r>
              <a:rPr lang="zh-TW" altLang="en-US" dirty="0">
                <a:latin typeface="+mn-lt"/>
              </a:rPr>
              <a:t> </a:t>
            </a:r>
            <a:r>
              <a:rPr lang="en-US" altLang="zh-TW" dirty="0">
                <a:latin typeface="+mn-lt"/>
              </a:rPr>
              <a:t>protocol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17C62-CAA8-46B5-8E2F-3DE983AE0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76400"/>
            <a:ext cx="3646470" cy="4800600"/>
          </a:xfrm>
        </p:spPr>
        <p:txBody>
          <a:bodyPr/>
          <a:lstStyle/>
          <a:p>
            <a:r>
              <a:rPr lang="en-US" altLang="zh-TW" dirty="0">
                <a:latin typeface="+mn-lt"/>
              </a:rPr>
              <a:t>Write channel</a:t>
            </a:r>
          </a:p>
          <a:p>
            <a:pPr lvl="1"/>
            <a:r>
              <a:rPr lang="en-US" altLang="zh-TW" dirty="0">
                <a:latin typeface="+mn-lt"/>
              </a:rPr>
              <a:t>Write address channel</a:t>
            </a:r>
          </a:p>
          <a:p>
            <a:pPr lvl="1"/>
            <a:r>
              <a:rPr lang="en-US" altLang="zh-TW" dirty="0">
                <a:latin typeface="+mn-lt"/>
              </a:rPr>
              <a:t>Write data channel</a:t>
            </a:r>
          </a:p>
          <a:p>
            <a:pPr lvl="1"/>
            <a:r>
              <a:rPr lang="en-US" altLang="zh-TW" dirty="0">
                <a:latin typeface="+mn-lt"/>
              </a:rPr>
              <a:t>Write response channel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You must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wait</a:t>
            </a:r>
            <a:r>
              <a:rPr lang="en-US" altLang="zh-TW" dirty="0">
                <a:latin typeface="+mn-lt"/>
              </a:rPr>
              <a:t> for the </a:t>
            </a:r>
            <a:r>
              <a:rPr lang="en-US" altLang="zh-TW" b="1" dirty="0">
                <a:latin typeface="+mn-lt"/>
              </a:rPr>
              <a:t>write response</a:t>
            </a:r>
            <a:r>
              <a:rPr lang="en-US" altLang="zh-TW" dirty="0">
                <a:latin typeface="+mn-lt"/>
              </a:rPr>
              <a:t> handshake to complete before issuing a new transaction (either read or write)</a:t>
            </a:r>
          </a:p>
          <a:p>
            <a:pPr lvl="1"/>
            <a:endParaRPr lang="zh-TW" altLang="en-US" dirty="0">
              <a:latin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5236C5B-F9F9-42C1-AD01-613A1207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20" y="5352036"/>
            <a:ext cx="4577142" cy="13889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9D1BB3D-D029-4A50-A00D-3C15BF60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09" y="1440950"/>
            <a:ext cx="4454164" cy="39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6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FEB18-B3BB-4B49-9726-A849DA5C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Lab3 Description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6D9BF5-AC8F-4B1A-A580-0F795003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>
                <a:latin typeface="+mn-lt"/>
              </a:rPr>
              <a:t>In Lab 3, you will practice a simple DMA read process. You are required to complete the following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Forwarder</a:t>
            </a:r>
            <a:r>
              <a:rPr lang="en-US" altLang="zh-TW" dirty="0">
                <a:latin typeface="+mn-lt"/>
              </a:rPr>
              <a:t> module and successfully transfer data from the Producer to the Checker.</a:t>
            </a:r>
          </a:p>
          <a:p>
            <a:pPr algn="just"/>
            <a:endParaRPr lang="en-US" altLang="zh-TW" dirty="0">
              <a:latin typeface="+mn-lt"/>
            </a:endParaRPr>
          </a:p>
          <a:p>
            <a:pPr algn="just"/>
            <a:r>
              <a:rPr lang="en-US" altLang="zh-TW" dirty="0">
                <a:latin typeface="+mn-lt"/>
              </a:rPr>
              <a:t>Unlike Lab 2, you will need to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actively request data from the Producer yourself</a:t>
            </a:r>
            <a:r>
              <a:rPr lang="en-US" altLang="zh-TW" dirty="0">
                <a:latin typeface="+mn-lt"/>
              </a:rPr>
              <a:t>. Therefore, you are required to 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implement the Read Address channel.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0A22DD-C726-4FC5-B313-74F365116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4238625"/>
            <a:ext cx="634365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17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2FEB18-B3BB-4B49-9726-A849DA5C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Lab3)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6D9BF5-AC8F-4B1A-A580-0F795003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In Lab 3, you will need to request a string composed of multiple characters from the Producer by sending an address, and then forward that string to the Checker for verification.</a:t>
            </a:r>
          </a:p>
          <a:p>
            <a:endParaRPr lang="en-US" altLang="zh-TW" dirty="0">
              <a:latin typeface="+mn-lt"/>
            </a:endParaRPr>
          </a:p>
          <a:p>
            <a:pPr algn="just"/>
            <a:r>
              <a:rPr lang="en-US" altLang="zh-TW" b="1" dirty="0">
                <a:solidFill>
                  <a:srgbClr val="FF0000"/>
                </a:solidFill>
                <a:latin typeface="+mn-lt"/>
              </a:rPr>
              <a:t>Note</a:t>
            </a:r>
            <a:r>
              <a:rPr lang="en-US" altLang="zh-TW" dirty="0">
                <a:latin typeface="+mn-lt"/>
              </a:rPr>
              <a:t>: You can directly pull S_AXIS_TREADY to 1</a:t>
            </a:r>
          </a:p>
          <a:p>
            <a:pPr algn="just"/>
            <a:r>
              <a:rPr lang="en-US" altLang="zh-TW" b="1" dirty="0">
                <a:solidFill>
                  <a:srgbClr val="FF0000"/>
                </a:solidFill>
                <a:latin typeface="+mn-lt"/>
              </a:rPr>
              <a:t>Note</a:t>
            </a:r>
            <a:r>
              <a:rPr lang="en-US" altLang="zh-TW" dirty="0">
                <a:latin typeface="+mn-lt"/>
              </a:rPr>
              <a:t>:</a:t>
            </a:r>
            <a:r>
              <a:rPr lang="zh-TW" altLang="en-US" dirty="0">
                <a:latin typeface="+mn-lt"/>
              </a:rPr>
              <a:t> </a:t>
            </a:r>
            <a:r>
              <a:rPr lang="en-US" altLang="zh-TW" dirty="0">
                <a:latin typeface="+mn-lt"/>
              </a:rPr>
              <a:t>The address, which is represented in the code as REQ_ID_TO_PROD, can simply be set to 0.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Global Signals</a:t>
            </a:r>
            <a:endParaRPr lang="zh-TW" altLang="en-US" dirty="0">
              <a:latin typeface="+mn-lt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F6898DB-6869-4AD9-95C6-3851CE902F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694427"/>
              </p:ext>
            </p:extLst>
          </p:nvPr>
        </p:nvGraphicFramePr>
        <p:xfrm>
          <a:off x="381000" y="5006994"/>
          <a:ext cx="8382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665">
                  <a:extLst>
                    <a:ext uri="{9D8B030D-6E8A-4147-A177-3AD203B41FA5}">
                      <a16:colId xmlns:a16="http://schemas.microsoft.com/office/drawing/2014/main" val="2660468893"/>
                    </a:ext>
                  </a:extLst>
                </a:gridCol>
                <a:gridCol w="1858296">
                  <a:extLst>
                    <a:ext uri="{9D8B030D-6E8A-4147-A177-3AD203B41FA5}">
                      <a16:colId xmlns:a16="http://schemas.microsoft.com/office/drawing/2014/main" val="3960773238"/>
                    </a:ext>
                  </a:extLst>
                </a:gridCol>
                <a:gridCol w="5361039">
                  <a:extLst>
                    <a:ext uri="{9D8B030D-6E8A-4147-A177-3AD203B41FA5}">
                      <a16:colId xmlns:a16="http://schemas.microsoft.com/office/drawing/2014/main" val="229306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417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ACLK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Clock 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Global clock signal. All signals are sampled on the rising edge of the global clock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5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ARESETn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Reset 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Global active-low reset signal.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330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10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02E609-C884-4AEE-BB15-6A4E5713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Lab3)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FE5610-9E6C-4A91-8D3E-DF538575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Write data channel</a:t>
            </a:r>
          </a:p>
          <a:p>
            <a:endParaRPr lang="zh-TW" altLang="en-US" dirty="0">
              <a:latin typeface="+mn-lt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74C6A89-1E7F-4698-B9CE-7D8CE3DBBC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022586"/>
              </p:ext>
            </p:extLst>
          </p:nvPr>
        </p:nvGraphicFramePr>
        <p:xfrm>
          <a:off x="190500" y="2104104"/>
          <a:ext cx="8763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237">
                  <a:extLst>
                    <a:ext uri="{9D8B030D-6E8A-4147-A177-3AD203B41FA5}">
                      <a16:colId xmlns:a16="http://schemas.microsoft.com/office/drawing/2014/main" val="3360456074"/>
                    </a:ext>
                  </a:extLst>
                </a:gridCol>
                <a:gridCol w="1428108">
                  <a:extLst>
                    <a:ext uri="{9D8B030D-6E8A-4147-A177-3AD203B41FA5}">
                      <a16:colId xmlns:a16="http://schemas.microsoft.com/office/drawing/2014/main" val="273210644"/>
                    </a:ext>
                  </a:extLst>
                </a:gridCol>
                <a:gridCol w="6148655">
                  <a:extLst>
                    <a:ext uri="{9D8B030D-6E8A-4147-A177-3AD203B41FA5}">
                      <a16:colId xmlns:a16="http://schemas.microsoft.com/office/drawing/2014/main" val="4173168155"/>
                    </a:ext>
                  </a:extLst>
                </a:gridCol>
              </a:tblGrid>
              <a:tr h="322728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38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Write data. A single piece of data will be one character (char).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9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Write valid indicates that valid write data is available :</a:t>
                      </a:r>
                    </a:p>
                    <a:p>
                      <a:r>
                        <a:rPr lang="en-US" altLang="zh-TW" dirty="0"/>
                        <a:t>1 = write data available</a:t>
                      </a:r>
                    </a:p>
                    <a:p>
                      <a:r>
                        <a:rPr lang="en-US" altLang="zh-TW" dirty="0"/>
                        <a:t>0 = write data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69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Write ready indicates that the slave can accept the write data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1 = slave ready</a:t>
                      </a:r>
                    </a:p>
                    <a:p>
                      <a:r>
                        <a:rPr lang="en-US" altLang="zh-TW" dirty="0"/>
                        <a:t>0 = slave not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0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M_AXIS_TLAST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The last piece of data in a sequence of consecutive characters: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1 = Last data</a:t>
                      </a:r>
                    </a:p>
                    <a:p>
                      <a:r>
                        <a:rPr lang="en-US" altLang="zh-TW" dirty="0"/>
                        <a:t>0 = Not last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46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02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6BEDFB-CECD-46ED-88AE-549C0196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Lab3)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A90A42-A64A-4527-B19E-AB95032B5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Read address channel</a:t>
            </a:r>
            <a:endParaRPr lang="zh-TW" altLang="en-US" dirty="0">
              <a:latin typeface="+mn-lt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F64F398-0B74-4FA3-98D4-1542D39F5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172151"/>
              </p:ext>
            </p:extLst>
          </p:nvPr>
        </p:nvGraphicFramePr>
        <p:xfrm>
          <a:off x="526549" y="2172099"/>
          <a:ext cx="8083195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718">
                  <a:extLst>
                    <a:ext uri="{9D8B030D-6E8A-4147-A177-3AD203B41FA5}">
                      <a16:colId xmlns:a16="http://schemas.microsoft.com/office/drawing/2014/main" val="2797239523"/>
                    </a:ext>
                  </a:extLst>
                </a:gridCol>
                <a:gridCol w="1148528">
                  <a:extLst>
                    <a:ext uri="{9D8B030D-6E8A-4147-A177-3AD203B41FA5}">
                      <a16:colId xmlns:a16="http://schemas.microsoft.com/office/drawing/2014/main" val="609438853"/>
                    </a:ext>
                  </a:extLst>
                </a:gridCol>
                <a:gridCol w="4976949">
                  <a:extLst>
                    <a:ext uri="{9D8B030D-6E8A-4147-A177-3AD203B41FA5}">
                      <a16:colId xmlns:a16="http://schemas.microsoft.com/office/drawing/2014/main" val="416491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284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REQ_ID_TO_PROD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Read address indicates the location to be read.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4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REQ_VALID_TO_PROD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</a:rPr>
                        <a:t>Read address valid indicates that valid read address is available:</a:t>
                      </a:r>
                    </a:p>
                    <a:p>
                      <a:r>
                        <a:rPr lang="en-US" altLang="zh-TW" dirty="0">
                          <a:latin typeface="+mn-lt"/>
                        </a:rPr>
                        <a:t>1 = address available</a:t>
                      </a:r>
                    </a:p>
                    <a:p>
                      <a:r>
                        <a:rPr lang="en-US" altLang="zh-TW" dirty="0">
                          <a:latin typeface="+mn-lt"/>
                        </a:rPr>
                        <a:t>0 = address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536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REQ_READY_FROM_PROD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Read address ready indicates that the slave can accept the read address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1 = slave ready</a:t>
                      </a:r>
                    </a:p>
                    <a:p>
                      <a:r>
                        <a:rPr lang="en-US" altLang="zh-TW" dirty="0"/>
                        <a:t>0 = slave not ready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714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151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AXI Signal Description (for Lab3)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Read data channel</a:t>
            </a:r>
            <a:endParaRPr lang="zh-TW" altLang="en-US" dirty="0">
              <a:latin typeface="+mn-lt"/>
            </a:endParaRPr>
          </a:p>
          <a:p>
            <a:endParaRPr lang="zh-TW" altLang="en-US" dirty="0">
              <a:latin typeface="+mn-lt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8F9A8E9-80F1-4076-B7EE-88026734C0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055376"/>
              </p:ext>
            </p:extLst>
          </p:nvPr>
        </p:nvGraphicFramePr>
        <p:xfrm>
          <a:off x="190500" y="2104104"/>
          <a:ext cx="8763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237">
                  <a:extLst>
                    <a:ext uri="{9D8B030D-6E8A-4147-A177-3AD203B41FA5}">
                      <a16:colId xmlns:a16="http://schemas.microsoft.com/office/drawing/2014/main" val="3360456074"/>
                    </a:ext>
                  </a:extLst>
                </a:gridCol>
                <a:gridCol w="1428108">
                  <a:extLst>
                    <a:ext uri="{9D8B030D-6E8A-4147-A177-3AD203B41FA5}">
                      <a16:colId xmlns:a16="http://schemas.microsoft.com/office/drawing/2014/main" val="273210644"/>
                    </a:ext>
                  </a:extLst>
                </a:gridCol>
                <a:gridCol w="6148655">
                  <a:extLst>
                    <a:ext uri="{9D8B030D-6E8A-4147-A177-3AD203B41FA5}">
                      <a16:colId xmlns:a16="http://schemas.microsoft.com/office/drawing/2014/main" val="4173168155"/>
                    </a:ext>
                  </a:extLst>
                </a:gridCol>
              </a:tblGrid>
              <a:tr h="322728">
                <a:tc>
                  <a:txBody>
                    <a:bodyPr/>
                    <a:lstStyle/>
                    <a:p>
                      <a:r>
                        <a:rPr lang="en-US" altLang="zh-TW" dirty="0"/>
                        <a:t>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Source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38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Read data. A single piece of data will be one character (char).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59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Read_valid</a:t>
                      </a:r>
                      <a:r>
                        <a:rPr lang="en-US" altLang="zh-TW" dirty="0"/>
                        <a:t> indicates that valid read data is available :</a:t>
                      </a:r>
                    </a:p>
                    <a:p>
                      <a:r>
                        <a:rPr lang="en-US" altLang="zh-TW" dirty="0"/>
                        <a:t>1 = read data available</a:t>
                      </a:r>
                    </a:p>
                    <a:p>
                      <a:r>
                        <a:rPr lang="en-US" altLang="zh-TW" dirty="0"/>
                        <a:t>0 = read data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69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Master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Read_ready</a:t>
                      </a:r>
                      <a:r>
                        <a:rPr lang="en-US" altLang="zh-TW" dirty="0"/>
                        <a:t> indicates that the master can accept the read data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:</a:t>
                      </a:r>
                      <a:r>
                        <a:rPr lang="zh-TW" altLang="en-US" dirty="0"/>
                        <a:t> 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1 = master ready</a:t>
                      </a:r>
                    </a:p>
                    <a:p>
                      <a:r>
                        <a:rPr lang="en-US" altLang="zh-TW" dirty="0"/>
                        <a:t>0 = master not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070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S_AXIS_TLAST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Slave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The last piece of data in a sequence of consecutive characters: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1 = Last data</a:t>
                      </a:r>
                    </a:p>
                    <a:p>
                      <a:r>
                        <a:rPr lang="en-US" altLang="zh-TW" dirty="0"/>
                        <a:t>0 = Not last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46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53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Command &amp; Submission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Data download:</a:t>
            </a:r>
          </a:p>
          <a:p>
            <a:pPr lvl="1"/>
            <a:r>
              <a:rPr lang="sv-SE" altLang="zh-TW" dirty="0">
                <a:latin typeface="+mn-lt"/>
              </a:rPr>
              <a:t>tar </a:t>
            </a:r>
            <a:r>
              <a:rPr lang="sv-SE" altLang="zh-TW">
                <a:latin typeface="+mn-lt"/>
              </a:rPr>
              <a:t>xvf ~es26mlchipTA10/</a:t>
            </a:r>
            <a:r>
              <a:rPr lang="sv-SE" altLang="zh-TW" dirty="0">
                <a:latin typeface="+mn-lt"/>
              </a:rPr>
              <a:t>lab3.tar</a:t>
            </a:r>
            <a:endParaRPr lang="en-US" altLang="zh-TW" dirty="0">
              <a:latin typeface="+mn-lt"/>
            </a:endParaRPr>
          </a:p>
          <a:p>
            <a:pPr marL="0" indent="0">
              <a:buNone/>
            </a:pPr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You must use </a:t>
            </a:r>
            <a:r>
              <a:rPr lang="en-US" altLang="zh-TW" b="1" dirty="0">
                <a:latin typeface="+mn-lt"/>
              </a:rPr>
              <a:t>make</a:t>
            </a:r>
            <a:r>
              <a:rPr lang="en-US" altLang="zh-TW" dirty="0">
                <a:latin typeface="+mn-lt"/>
              </a:rPr>
              <a:t> to complete the compilation and execution.</a:t>
            </a:r>
          </a:p>
          <a:p>
            <a:endParaRPr lang="en-US" altLang="zh-TW" dirty="0">
              <a:latin typeface="+mn-lt"/>
            </a:endParaRPr>
          </a:p>
          <a:p>
            <a:r>
              <a:rPr lang="en-US" altLang="zh-TW" dirty="0">
                <a:latin typeface="+mn-lt"/>
              </a:rPr>
              <a:t>Submission:</a:t>
            </a:r>
          </a:p>
          <a:p>
            <a:pPr lvl="1"/>
            <a:r>
              <a:rPr lang="en-US" altLang="zh-TW" dirty="0">
                <a:latin typeface="+mn-lt"/>
              </a:rPr>
              <a:t>cd 09_SUBMIT/</a:t>
            </a:r>
          </a:p>
          <a:p>
            <a:pPr lvl="1"/>
            <a:r>
              <a:rPr lang="en-US" altLang="zh-TW" dirty="0">
                <a:latin typeface="+mn-lt"/>
              </a:rPr>
              <a:t>./00_tar</a:t>
            </a:r>
          </a:p>
          <a:p>
            <a:pPr lvl="1"/>
            <a:r>
              <a:rPr lang="en-US" altLang="zh-TW" dirty="0">
                <a:latin typeface="+mn-lt"/>
              </a:rPr>
              <a:t>./01_submit</a:t>
            </a:r>
          </a:p>
          <a:p>
            <a:pPr lvl="1"/>
            <a:r>
              <a:rPr lang="en-US" altLang="zh-TW" dirty="0">
                <a:latin typeface="+mn-lt"/>
              </a:rPr>
              <a:t>./02_checl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350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Grading policy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As long as you see the following output after running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./01_submit</a:t>
            </a:r>
            <a:r>
              <a:rPr lang="en-US" altLang="zh-TW" dirty="0">
                <a:latin typeface="+mn-lt"/>
              </a:rPr>
              <a:t>, you will receive a score of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100</a:t>
            </a:r>
            <a:r>
              <a:rPr lang="en-US" altLang="zh-TW" dirty="0">
                <a:latin typeface="+mn-lt"/>
              </a:rPr>
              <a:t>.</a:t>
            </a:r>
            <a:endParaRPr lang="zh-TW" altLang="en-US" dirty="0">
              <a:latin typeface="+mn-lt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647D72-B873-C6F5-147D-C838370722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910"/>
          <a:stretch>
            <a:fillRect/>
          </a:stretch>
        </p:blipFill>
        <p:spPr>
          <a:xfrm>
            <a:off x="2916181" y="2304679"/>
            <a:ext cx="3456044" cy="427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5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AE7EB-03E9-430D-8C0E-E6CDA61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Grading policy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A3E2F-5256-41E9-86E6-487D59D35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The following are rules that must be absolutely adhered to. Any violation will </a:t>
            </a:r>
            <a:r>
              <a:rPr lang="en-US" altLang="zh-TW" b="1" dirty="0">
                <a:solidFill>
                  <a:srgbClr val="FF0000"/>
                </a:solidFill>
                <a:latin typeface="+mn-lt"/>
              </a:rPr>
              <a:t>result in 0 points</a:t>
            </a:r>
            <a:r>
              <a:rPr lang="en-US" altLang="zh-TW" dirty="0">
                <a:latin typeface="+mn-lt"/>
              </a:rPr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lt"/>
              </a:rPr>
              <a:t>Plagiarism is forbidden.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lt"/>
              </a:rPr>
              <a:t>The only file you are allowed to modify is </a:t>
            </a:r>
            <a:r>
              <a:rPr lang="en-US" altLang="zh-TW" dirty="0" err="1">
                <a:solidFill>
                  <a:srgbClr val="FF0000"/>
                </a:solidFill>
                <a:latin typeface="+mn-lt"/>
              </a:rPr>
              <a:t>forwarder.h</a:t>
            </a:r>
            <a:r>
              <a:rPr lang="en-US" altLang="zh-TW" dirty="0">
                <a:solidFill>
                  <a:srgbClr val="FF0000"/>
                </a:solidFill>
                <a:latin typeface="+mn-lt"/>
              </a:rPr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  <a:latin typeface="+mn-lt"/>
              </a:rPr>
              <a:t>You cannot use any Chinese characters in the assignment, including within comments.</a:t>
            </a:r>
            <a:endParaRPr lang="zh-TW" altLang="en-US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5472650"/>
      </p:ext>
    </p:extLst>
  </p:cSld>
  <p:clrMapOvr>
    <a:masterClrMapping/>
  </p:clrMapOvr>
</p:sld>
</file>

<file path=ppt/theme/theme1.xml><?xml version="1.0" encoding="utf-8"?>
<a:theme xmlns:a="http://schemas.openxmlformats.org/drawingml/2006/main" name="ceres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ress" id="{3E8277A9-E828-429E-85EC-54CBAFB3E86A}" vid="{5C84C648-E0EA-4BCA-BAFB-5242954E76ED}"/>
    </a:ext>
  </a:extLst>
</a:theme>
</file>

<file path=ppt/theme/theme2.xml><?xml version="1.0" encoding="utf-8"?>
<a:theme xmlns:a="http://schemas.openxmlformats.org/drawingml/2006/main" name="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199C6FC5-6791-4C9E-84E4-ED9530E5990F}"/>
    </a:ext>
  </a:extLst>
</a:theme>
</file>

<file path=ppt/theme/theme3.xml><?xml version="1.0" encoding="utf-8"?>
<a:theme xmlns:a="http://schemas.openxmlformats.org/drawingml/2006/main" name="1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72CD3853-A15E-4485-A0A1-D6E2BED8762C}"/>
    </a:ext>
  </a:extLst>
</a:theme>
</file>

<file path=ppt/theme/theme4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28805D2F-9BA3-40B7-90E7-2FA286ABBCDD}"/>
    </a:ext>
  </a:extLst>
</a:theme>
</file>

<file path=ppt/theme/theme5.xml><?xml version="1.0" encoding="utf-8"?>
<a:theme xmlns:a="http://schemas.openxmlformats.org/drawingml/2006/main" name="1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474457C9-4C96-4BE5-8BAC-F8165FC8762B}"/>
    </a:ext>
  </a:extLst>
</a:theme>
</file>

<file path=ppt/theme/theme6.xml><?xml version="1.0" encoding="utf-8"?>
<a:theme xmlns:a="http://schemas.openxmlformats.org/drawingml/2006/main" name="ce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hhao_Slide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FFFF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Chihhao_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ihhao_Slid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ihhao_Slid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re" id="{ED77366A-4126-4053-8FC3-907FF6DA654F}" vid="{28BE75BD-3A5F-48CE-B690-B3FDCB7FADF9}"/>
    </a:ext>
  </a:extLst>
</a:theme>
</file>

<file path=ppt/theme/theme7.xml><?xml version="1.0" encoding="utf-8"?>
<a:theme xmlns:a="http://schemas.openxmlformats.org/drawingml/2006/main" name="2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199C6FC5-6791-4C9E-84E4-ED9530E5990F}"/>
    </a:ext>
  </a:extLst>
</a:theme>
</file>

<file path=ppt/theme/theme8.xml><?xml version="1.0" encoding="utf-8"?>
<a:theme xmlns:a="http://schemas.openxmlformats.org/drawingml/2006/main" name="3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ccess Lab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ccess Lab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cess Lab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ss 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72CD3853-A15E-4485-A0A1-D6E2BED8762C}"/>
    </a:ext>
  </a:extLst>
</a:theme>
</file>

<file path=ppt/theme/theme9.xml><?xml version="1.0" encoding="utf-8"?>
<a:theme xmlns:a="http://schemas.openxmlformats.org/drawingml/2006/main" name="2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28805D2F-9BA3-40B7-90E7-2FA286ABBCDD}"/>
    </a:ext>
  </a:extLst>
</a:theme>
</file>

<file path=ppt/theme/theme10.xml><?xml version="1.0" encoding="utf-8"?>
<a:theme xmlns:a="http://schemas.openxmlformats.org/drawingml/2006/main" name="2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Acces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1_Acce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cce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cce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A5008B27-BE5B-4BBA-B2A4-55EE6751EFDE}" vid="{474457C9-4C96-4BE5-8BAC-F8165FC8762B}"/>
    </a:ext>
  </a:extLst>
</a:theme>
</file>

<file path=ppt/theme/theme11.xml><?xml version="1.0" encoding="utf-8"?>
<a:theme xmlns:a="http://schemas.openxmlformats.org/drawingml/2006/main" name="1_cer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ceres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4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5_Access Lab">
  <a:themeElements>
    <a:clrScheme name="Access Lab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3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3_Access">
  <a:themeElements>
    <a:clrScheme name="1_Acce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ceress</Template>
  <TotalTime>42893</TotalTime>
  <Words>725</Words>
  <Application>Microsoft Office PowerPoint</Application>
  <PresentationFormat>如螢幕大小 (4:3)</PresentationFormat>
  <Paragraphs>118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16</vt:i4>
      </vt:variant>
      <vt:variant>
        <vt:lpstr>投影片標題</vt:lpstr>
      </vt:variant>
      <vt:variant>
        <vt:i4>13</vt:i4>
      </vt:variant>
    </vt:vector>
  </HeadingPairs>
  <TitlesOfParts>
    <vt:vector size="41" baseType="lpstr">
      <vt:lpstr>Noto Sans Symbols</vt:lpstr>
      <vt:lpstr>微軟正黑體</vt:lpstr>
      <vt:lpstr>新細明體</vt:lpstr>
      <vt:lpstr>標楷體</vt:lpstr>
      <vt:lpstr>標楷體</vt:lpstr>
      <vt:lpstr>Arial</vt:lpstr>
      <vt:lpstr>Arial Black</vt:lpstr>
      <vt:lpstr>Calibri</vt:lpstr>
      <vt:lpstr>Symbol</vt:lpstr>
      <vt:lpstr>Tahoma</vt:lpstr>
      <vt:lpstr>Times New Roman</vt:lpstr>
      <vt:lpstr>Wingdings</vt:lpstr>
      <vt:lpstr>ceress</vt:lpstr>
      <vt:lpstr>Access Lab</vt:lpstr>
      <vt:lpstr>1_Access Lab</vt:lpstr>
      <vt:lpstr>1_Blends</vt:lpstr>
      <vt:lpstr>1_Access</vt:lpstr>
      <vt:lpstr>cere</vt:lpstr>
      <vt:lpstr>2_Access Lab</vt:lpstr>
      <vt:lpstr>3_Access Lab</vt:lpstr>
      <vt:lpstr>2_Blends</vt:lpstr>
      <vt:lpstr>2_Access</vt:lpstr>
      <vt:lpstr>1_cere</vt:lpstr>
      <vt:lpstr>1_ceress</vt:lpstr>
      <vt:lpstr>4_Access Lab</vt:lpstr>
      <vt:lpstr>5_Access Lab</vt:lpstr>
      <vt:lpstr>3_Blends</vt:lpstr>
      <vt:lpstr>3_Access</vt:lpstr>
      <vt:lpstr>MLchip Lab3 DMA</vt:lpstr>
      <vt:lpstr>Handshake Process</vt:lpstr>
      <vt:lpstr>Handshake Dependencies</vt:lpstr>
      <vt:lpstr>Simplified AXI protocol</vt:lpstr>
      <vt:lpstr>Simplified AXI protocol</vt:lpstr>
      <vt:lpstr>Lab3 Description</vt:lpstr>
      <vt:lpstr>AXI Signal Description (for Lab3)</vt:lpstr>
      <vt:lpstr>AXI Signal Description (for Lab3)</vt:lpstr>
      <vt:lpstr>AXI Signal Description (for Lab3)</vt:lpstr>
      <vt:lpstr>AXI Signal Description (for Lab3)</vt:lpstr>
      <vt:lpstr>Command &amp; Submission</vt:lpstr>
      <vt:lpstr>Grading policy</vt:lpstr>
      <vt:lpstr>Grading policy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Approximated Prediction Strategy - LazyConvPool (LCP)</dc:title>
  <dc:creator>簡伯丞</dc:creator>
  <cp:lastModifiedBy>彥臣 顏</cp:lastModifiedBy>
  <cp:revision>312</cp:revision>
  <dcterms:created xsi:type="dcterms:W3CDTF">2016-12-28T07:00:03Z</dcterms:created>
  <dcterms:modified xsi:type="dcterms:W3CDTF">2026-05-31T09:33:44Z</dcterms:modified>
</cp:coreProperties>
</file>
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4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761D"/>
    <a:srgbClr val="7C7C7C"/>
    <a:srgbClr val="595959"/>
    <a:srgbClr val="CACA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108" y="2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ec984054a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bec984054a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ab0a36be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ab0a36be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bea6b709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bea6b70925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ec984054a_2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ec984054a_2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md.io/@sysprog/SySTMXPvl" TargetMode="External"/><Relationship Id="rId3" Type="http://schemas.openxmlformats.org/officeDocument/2006/relationships/hyperlink" Target="https://systemc.org/overview/systemc/" TargetMode="External"/><Relationship Id="rId7" Type="http://schemas.openxmlformats.org/officeDocument/2006/relationships/hyperlink" Target="https://blog.csdn.net/qq_42556934/article/details/108304720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github.com/accellera-official/systemc/blob/main/INSTALL.md#compilation-and-linking-options" TargetMode="External"/><Relationship Id="rId5" Type="http://schemas.openxmlformats.org/officeDocument/2006/relationships/hyperlink" Target="https://gist.github.com/bagheriali2001/0736fabf7da95fb02bbe6777d53fabf7" TargetMode="External"/><Relationship Id="rId4" Type="http://schemas.openxmlformats.org/officeDocument/2006/relationships/hyperlink" Target="https://github.com/AleksandarKostovic/SystemC-tuto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-59401" y="593525"/>
            <a:ext cx="92628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4800" dirty="0" err="1"/>
              <a:t>mlchip</a:t>
            </a:r>
            <a:r>
              <a:rPr lang="zh-TW" sz="4800" dirty="0"/>
              <a:t> </a:t>
            </a:r>
            <a:r>
              <a:rPr lang="en-US" altLang="zh-TW" sz="4800" dirty="0"/>
              <a:t>L</a:t>
            </a:r>
            <a:r>
              <a:rPr lang="zh-TW" sz="4800"/>
              <a:t>a</a:t>
            </a:r>
            <a:r>
              <a:rPr lang="zh-TW" sz="4800" dirty="0"/>
              <a:t>b0 SytemC</a:t>
            </a:r>
            <a:r>
              <a:rPr lang="zh-TW" sz="4800" dirty="0">
                <a:latin typeface="Microsoft JhengHei"/>
                <a:ea typeface="Microsoft JhengHei"/>
                <a:cs typeface="Microsoft JhengHei"/>
                <a:sym typeface="Microsoft JhengHei"/>
              </a:rPr>
              <a:t>環境測試</a:t>
            </a:r>
            <a:endParaRPr sz="4800" dirty="0"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82875"/>
            <a:ext cx="8520600" cy="94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1800" dirty="0">
                <a:solidFill>
                  <a:schemeClr val="dk1"/>
                </a:solidFill>
              </a:rPr>
              <a:t>Author :</a:t>
            </a:r>
            <a:r>
              <a:rPr lang="zh-TW" altLang="en-US" sz="1800" dirty="0">
                <a:solidFill>
                  <a:schemeClr val="dk1"/>
                </a:solidFill>
              </a:rPr>
              <a:t> 陳旭祺、黃炫喻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zh-TW" sz="1800" dirty="0">
                <a:solidFill>
                  <a:schemeClr val="dk1"/>
                </a:solidFill>
              </a:rPr>
              <a:t>Date : 202</a:t>
            </a:r>
            <a:r>
              <a:rPr lang="en-US" altLang="zh-TW" sz="1800" dirty="0">
                <a:solidFill>
                  <a:schemeClr val="dk1"/>
                </a:solidFill>
              </a:rPr>
              <a:t>6</a:t>
            </a:r>
            <a:r>
              <a:rPr lang="zh-TW" sz="1800" dirty="0">
                <a:solidFill>
                  <a:schemeClr val="dk1"/>
                </a:solidFill>
              </a:rPr>
              <a:t>/03/0</a:t>
            </a:r>
            <a:r>
              <a:rPr lang="en-US" altLang="zh-TW" sz="1800" dirty="0">
                <a:solidFill>
                  <a:schemeClr val="dk1"/>
                </a:solidFill>
              </a:rPr>
              <a:t>6</a:t>
            </a:r>
            <a:endParaRPr sz="18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什麼是 SystemC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386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98" b="1" dirty="0">
                <a:solidFill>
                  <a:schemeClr val="tx1"/>
                </a:solidFill>
              </a:rPr>
              <a:t>SystemC 是一個用 C++ 編寫的一個函式庫 (調用方式 `#inlcude "systemc.h"`)</a:t>
            </a:r>
            <a:endParaRPr sz="1898" b="1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898" b="1" dirty="0">
                <a:solidFill>
                  <a:schemeClr val="tx1"/>
                </a:solidFill>
              </a:rPr>
              <a:t>支援系統級別的設計和驗證， 讓我們使用 C++ 也能實現硬體功能，不需要任何特殊的EDA工具才能使用。</a:t>
            </a:r>
            <a:endParaRPr sz="1898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8" dirty="0">
                <a:solidFill>
                  <a:schemeClr val="tx1"/>
                </a:solidFill>
              </a:rPr>
              <a:t>支援與 RTL 設計的協同驗證。與更詳細的 RTL 相比， SystemC 這種更高層次的語言可以實現更快、更有效率的架構分析和設計。</a:t>
            </a:r>
            <a:endParaRPr sz="1908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908" dirty="0">
                <a:solidFill>
                  <a:schemeClr val="tx1"/>
                </a:solidFill>
              </a:rPr>
              <a:t>在系統架構層級的驗證中，同樣的架構， SystemC 比起RTL驗證， pin 腳精確度、時序精確度快上幾個數量級。</a:t>
            </a:r>
            <a:endParaRPr sz="1908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9376" y="1312276"/>
            <a:ext cx="3316949" cy="236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執行步驟 (1/</a:t>
            </a:r>
            <a:r>
              <a:rPr lang="en-US" altLang="zh-TW" dirty="0"/>
              <a:t>2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1</a:t>
            </a:r>
            <a:r>
              <a:rPr lang="en-US" altLang="zh-TW" sz="1600" b="1" dirty="0">
                <a:solidFill>
                  <a:schemeClr val="tx1"/>
                </a:solidFill>
              </a:rPr>
              <a:t>. </a:t>
            </a:r>
            <a:r>
              <a:rPr lang="zh-TW" altLang="en-US" sz="1600" b="1" dirty="0">
                <a:solidFill>
                  <a:srgbClr val="FF0000"/>
                </a:solidFill>
              </a:rPr>
              <a:t>一開始登入</a:t>
            </a:r>
            <a:r>
              <a:rPr lang="en-US" altLang="zh-TW" sz="1600" b="1" dirty="0">
                <a:solidFill>
                  <a:srgbClr val="FF0000"/>
                </a:solidFill>
              </a:rPr>
              <a:t>server</a:t>
            </a:r>
            <a:r>
              <a:rPr lang="zh-TW" altLang="en-US" sz="1600" b="1" dirty="0">
                <a:solidFill>
                  <a:srgbClr val="FF0000"/>
                </a:solidFill>
              </a:rPr>
              <a:t>，請選擇關鍵字</a:t>
            </a:r>
            <a:r>
              <a:rPr lang="en-US" altLang="zh-TW" sz="1600" dirty="0">
                <a:solidFill>
                  <a:schemeClr val="tx1"/>
                </a:solidFill>
              </a:rPr>
              <a:t>(`layout`)</a:t>
            </a:r>
            <a:r>
              <a:rPr lang="zh-TW" altLang="en-US" sz="1600" dirty="0">
                <a:solidFill>
                  <a:schemeClr val="tx1"/>
                </a:solidFill>
              </a:rPr>
              <a:t> 。</a:t>
            </a: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altLang="zh-TW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chemeClr val="tx1"/>
                </a:solidFill>
              </a:rPr>
              <a:t>2. 從 TA 資料夾複製並解壓縮檔案</a:t>
            </a:r>
            <a:endParaRPr sz="1600" dirty="0">
              <a:solidFill>
                <a:schemeClr val="tx1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 dirty="0">
                <a:solidFill>
                  <a:srgbClr val="38761D"/>
                </a:solidFill>
              </a:rPr>
              <a:t>tar -xvf ~</a:t>
            </a:r>
            <a:r>
              <a:rPr lang="en-US" altLang="zh-TW" sz="1600" dirty="0">
                <a:solidFill>
                  <a:srgbClr val="38761D"/>
                </a:solidFill>
              </a:rPr>
              <a:t>es26mlchip</a:t>
            </a:r>
            <a:r>
              <a:rPr lang="zh-TW" sz="1600" dirty="0">
                <a:solidFill>
                  <a:srgbClr val="38761D"/>
                </a:solidFill>
              </a:rPr>
              <a:t>TA</a:t>
            </a:r>
            <a:r>
              <a:rPr lang="en-US" altLang="zh-TW" sz="1600" dirty="0">
                <a:solidFill>
                  <a:srgbClr val="38761D"/>
                </a:solidFill>
              </a:rPr>
              <a:t>10</a:t>
            </a:r>
            <a:r>
              <a:rPr lang="zh-TW" sz="1600" dirty="0">
                <a:solidFill>
                  <a:srgbClr val="38761D"/>
                </a:solidFill>
              </a:rPr>
              <a:t>/</a:t>
            </a:r>
            <a:r>
              <a:rPr lang="en-US" altLang="zh-TW" sz="1600" dirty="0">
                <a:solidFill>
                  <a:srgbClr val="38761D"/>
                </a:solidFill>
              </a:rPr>
              <a:t>l</a:t>
            </a:r>
            <a:r>
              <a:rPr lang="zh-TW" sz="1600" dirty="0">
                <a:solidFill>
                  <a:srgbClr val="38761D"/>
                </a:solidFill>
              </a:rPr>
              <a:t>ab0.tar</a:t>
            </a:r>
            <a:endParaRPr sz="1600" dirty="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altLang="zh-TW"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3</a:t>
            </a:r>
            <a:r>
              <a:rPr lang="zh-TW" sz="1600" dirty="0">
                <a:solidFill>
                  <a:schemeClr val="tx1"/>
                </a:solidFill>
              </a:rPr>
              <a:t>. 進入 hello 示例的目錄</a:t>
            </a:r>
            <a:endParaRPr lang="en-US" sz="1600" dirty="0">
              <a:solidFill>
                <a:schemeClr val="tx1"/>
              </a:solidFill>
            </a:endParaRPr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zh-TW" sz="1600" dirty="0">
                <a:solidFill>
                  <a:srgbClr val="38761D"/>
                </a:solidFill>
              </a:rPr>
              <a:t>cd lab0/hello</a:t>
            </a:r>
            <a:endParaRPr lang="en-US" dirty="0">
              <a:solidFill>
                <a:srgbClr val="38761D"/>
              </a:solidFill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A60DCBA-A0FB-407B-B252-4AC0A45ED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273170"/>
            <a:ext cx="3324689" cy="12003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執行步驟 (2/</a:t>
            </a:r>
            <a:r>
              <a:rPr lang="en-US" altLang="zh-TW" dirty="0"/>
              <a:t>2</a:t>
            </a:r>
            <a:r>
              <a:rPr lang="zh-TW" dirty="0"/>
              <a:t>)</a:t>
            </a:r>
            <a:endParaRPr dirty="0"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5</a:t>
            </a:r>
            <a:r>
              <a:rPr lang="zh-TW" sz="1600" dirty="0">
                <a:solidFill>
                  <a:schemeClr val="tx1"/>
                </a:solidFill>
              </a:rPr>
              <a:t>. 編譯</a:t>
            </a:r>
            <a:r>
              <a:rPr lang="zh-TW" altLang="en-US" sz="1600" dirty="0">
                <a:solidFill>
                  <a:schemeClr val="tx1"/>
                </a:solidFill>
              </a:rPr>
              <a:t>並執行</a:t>
            </a:r>
            <a:r>
              <a:rPr lang="zh-TW" sz="1600" dirty="0">
                <a:solidFill>
                  <a:schemeClr val="tx1"/>
                </a:solidFill>
              </a:rPr>
              <a:t> `hello.cpp` </a:t>
            </a:r>
            <a:r>
              <a:rPr lang="zh-TW" sz="1600" dirty="0"/>
              <a:t>(</a:t>
            </a:r>
            <a:r>
              <a:rPr lang="zh-TW" sz="1600" dirty="0">
                <a:solidFill>
                  <a:srgbClr val="FF0000"/>
                </a:solidFill>
              </a:rPr>
              <a:t>如未更改檔案，要重新編譯，請執行第7點</a:t>
            </a:r>
            <a:r>
              <a:rPr lang="zh-TW" sz="1600" dirty="0"/>
              <a:t>)</a:t>
            </a:r>
            <a:endParaRPr sz="1600" dirty="0"/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600" dirty="0">
                <a:solidFill>
                  <a:srgbClr val="38761D"/>
                </a:solidFill>
              </a:rPr>
              <a:t>make</a:t>
            </a:r>
            <a:endParaRPr sz="1600" dirty="0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>
                <a:solidFill>
                  <a:schemeClr val="tx1"/>
                </a:solidFill>
              </a:rPr>
              <a:t>6</a:t>
            </a:r>
            <a:r>
              <a:rPr lang="zh-TW" sz="1600" dirty="0">
                <a:solidFill>
                  <a:schemeClr val="tx1"/>
                </a:solidFill>
              </a:rPr>
              <a:t>. 預期運行結果</a:t>
            </a:r>
            <a:endParaRPr sz="16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US"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zh-TW" sz="1600" dirty="0"/>
              <a:t>7</a:t>
            </a:r>
            <a:r>
              <a:rPr lang="zh-TW" sz="1600" dirty="0"/>
              <a:t>. 清除executable二進位檔</a:t>
            </a:r>
            <a:endParaRPr sz="1600" dirty="0"/>
          </a:p>
          <a:p>
            <a:pPr marL="0" lvl="0" indent="45720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 dirty="0">
                <a:solidFill>
                  <a:srgbClr val="38761D"/>
                </a:solidFill>
              </a:rPr>
              <a:t>make clean</a:t>
            </a:r>
            <a:endParaRPr sz="1600" dirty="0">
              <a:solidFill>
                <a:srgbClr val="38761D"/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886D36EC-5F5B-4888-8E03-06F82101C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0" y="2427135"/>
            <a:ext cx="7559659" cy="1736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zh-TW"/>
              <a:t>參考資訊</a:t>
            </a:r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 </a:t>
            </a:r>
            <a:r>
              <a:rPr lang="zh-TW" sz="1900" u="sng">
                <a:solidFill>
                  <a:schemeClr val="hlink"/>
                </a:solidFill>
                <a:hlinkClick r:id="rId3"/>
              </a:rPr>
              <a:t>systemC官網介紹</a:t>
            </a:r>
            <a:endParaRPr sz="2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2. </a:t>
            </a:r>
            <a:r>
              <a:rPr lang="zh-TW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SystemC語法介紹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3. </a:t>
            </a:r>
            <a:r>
              <a:rPr lang="zh-TW" u="sng">
                <a:solidFill>
                  <a:schemeClr val="hlink"/>
                </a:solidFill>
                <a:hlinkClick r:id="rId5"/>
              </a:rPr>
              <a:t>SystemC簡化版安裝步驟</a:t>
            </a:r>
            <a:r>
              <a:rPr lang="zh-TW"/>
              <a:t>、</a:t>
            </a:r>
            <a:r>
              <a:rPr lang="zh-TW" u="sng">
                <a:solidFill>
                  <a:schemeClr val="hlink"/>
                </a:solidFill>
                <a:hlinkClick r:id="rId6"/>
              </a:rPr>
              <a:t>SystemC官網安裝步驟</a:t>
            </a:r>
            <a:r>
              <a:rPr lang="zh-TW"/>
              <a:t>、</a:t>
            </a:r>
            <a:r>
              <a:rPr lang="zh-TW" u="sng">
                <a:solidFill>
                  <a:schemeClr val="hlink"/>
                </a:solidFill>
                <a:hlinkClick r:id="rId7"/>
              </a:rPr>
              <a:t>問題排除</a:t>
            </a:r>
            <a:endParaRPr sz="150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4. </a:t>
            </a:r>
            <a:r>
              <a:rPr lang="zh-TW" u="sng">
                <a:solidFill>
                  <a:schemeClr val="hlink"/>
                </a:solidFill>
                <a:hlinkClick r:id="rId8"/>
              </a:rPr>
              <a:t>Makefile 語法和示範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320</Words>
  <Application>Microsoft Office PowerPoint</Application>
  <PresentationFormat>如螢幕大小 (16:9)</PresentationFormat>
  <Paragraphs>32</Paragraphs>
  <Slides>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Microsoft JhengHei</vt:lpstr>
      <vt:lpstr>Arial</vt:lpstr>
      <vt:lpstr>Simple Light</vt:lpstr>
      <vt:lpstr>mlchip Lab0 SytemC環境測試</vt:lpstr>
      <vt:lpstr>什麼是 SystemC</vt:lpstr>
      <vt:lpstr>執行步驟 (1/2)</vt:lpstr>
      <vt:lpstr>執行步驟 (2/2)</vt:lpstr>
      <vt:lpstr>參考資訊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mlchip Lab0 SytemC環境測試</dc:title>
  <cp:lastModifiedBy>炫喻</cp:lastModifiedBy>
  <cp:revision>21</cp:revision>
  <dcterms:modified xsi:type="dcterms:W3CDTF">2026-03-06T13:43:14Z</dcterms:modified>
</cp:coreProperties>
</file>